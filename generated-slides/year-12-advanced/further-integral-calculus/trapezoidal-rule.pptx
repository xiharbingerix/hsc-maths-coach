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we're looking at The Trapezoidal Rule.
Course: Year 12 Mathematics Advanced – Further Integral Calculus
Overview: Approximate definite integrals from functions or tables using one or more trapezoids, and interpret the effect of concavity.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learning intention aloud, then walk through each success criterion briefly.
Learning Intention:
"Use the trapezoidal rule to approximate definite integrals and judge when the approximation is likely to overestimate or underestimate."
Success Criteria:
1. Identify the subinterval width h from limits and number of subintervals.
2. Apply the trapezoidal rule using endpoint and interior y-values.
3. Use one trapezoid and two trapezoids in simple function examples.
4. Approximate an integral from a table of values.
5. Recognise common coefficient errors in the trapezoidal formula.
6. Use concavity to decide whether the approximation overestimates or underestimates.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formula step by step.
Key points:
1. The trapezoidal rule approximates a definite integral by replacing a curve with straight line segments and adding the areas of trapezoids.
2. The interval from a to b is split into n equal subintervals. The width of each subinterval is h.
3. Endpoint y-values are used once. Interior y-values are used twice because each interior height belongs to two neighbouring trapezoids.
4. With one subinterval, the rule is just the area of one trapezoid. With more subintervals, the straight segments usually follow the curve more closely.
5. Concavity helps interpret the error. For a concave-up graph, the trapezoids sit above the curve and tend to overestimate. For a concave-down graph, they tend to underestimate.
Formula blocks (raw LaTeX for reference):
h=\frac{b-a}{n}
\int_a^b f(x)\,dx\approx\frac h2\left[y_0+2y_1+2y_2+\cdots+2y_{n-1}+y_n\right]
\text{one subinterval: }\frac h2(y_0+y_1)
\text{more subintervals usually improve the approximation}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1: One trapezoid for a simple integral
Say the question aloud before revealing each step.
Question (LaTeX): \text{Use one trapezoid to approximate }\int_0^2 x^2\,dx.
Steps:
1. With one subinterval, the width is 2.  →  h=2
2. Find the endpoint y-values.  →  y_0=f(0)=0,\quad y_1=f(2)=4
3. Use the one-trapezoid rule.  →  \frac{2}{2}(0+4)=4
Answer: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2: Two trapezoids for a simple integral
Say the question aloud before revealing each step.
Question (LaTeX): \text{Use two subintervals to approximate }\int_0^2 x^2\,dx.
Steps:
1. The width is one.  →  h=\frac{2-0}{2}=1
2. Use x-values 0, 1 and 2.  →  y_0=0,\quad y_1=1,\quad y_2=4
3. Double the interior value.  →  \frac12(0+2(1)+4)=3
Answer: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3: Use a table of values
Say the question aloud before revealing each step.
Question (LaTeX): \begin{array}{c|cccc}x&amp;0&amp;1&amp;2&amp;3\\ y&amp;2&amp;5&amp;6&amp;8\end{array}
Steps:
1. The x-values are one unit apart.  →  h=1
2. Use endpoints once and interior values twice.  →  \frac12(2+2(5)+2(6)+8)
3. Evaluate the approximation.  →  16
Answer: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4: Interpret concavity
Say the question aloud before revealing each step.
Question (LaTeX): f(x)=x^2\quad \text{on }0\le x\le2
Steps:
1. The graph is concave up.  →  f''(x)=2&gt;0
2. Straight chords lie above a concave-up curve.
3. So the trapezoidal approximation overestimates the integral.
Answer: \text{overestimate}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and ask students which mistakes they've made before.
This slide:
MISTAKE: Using n as the width.
FIX: The width is h=(b-a)/n, not the number of subintervals.
MISTAKE: Forgetting to double interior values.
FIX: Every interior y-value has coefficient 2 in the composite trapezoidal rule.
All mistakes for reference:
1. Using n as the width. → The width is h=(b-a)/n, not the number of subintervals.
2. Forgetting to double interior values. → Every interior y-value has coefficient 2 in the composite trapezoidal rule.
3. Forgetting the factor h/2. → The final bracket must be multiplied by h/2.
4. Assuming the rule is exact for all curves. → It is exact for straight-line data, but curved graphs are usually only approximated.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and ask students which mistakes they've made before.
This slide:
MISTAKE: Forgetting the factor h/2.
FIX: The final bracket must be multiplied by h/2.
MISTAKE: Assuming the rule is exact for all curves.
FIX: It is exact for straight-line data, but curved graphs are usually only approximated.
All mistakes for reference:
1. Using n as the width. → The width is h=(b-a)/n, not the number of subintervals.
2. Forgetting to double interior values. → Every interior y-value has coefficient 2 in the composite trapezoidal rule.
3. Forgetting the factor h/2. → The final bracket must be multiplied by h/2.
4. Assuming the rule is exact for all curves. → It is exact for straight-line data, but curved graphs are usually only approximated.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"Pause the video now and try this yourself."
Resume after giving them time.
Question: Use one trapezoid to approximate the integral.
LaTeX: \int_0^2 x^2\,dx
Answer: 4
Hint: Identify h and combine the endpoint and interior y-values carefully.
All guided practice (for reference):
1. Use one trapezoid to approximate the integral. (\int_0^2 x^2\,dx) → 4
2. Use two subintervals to approximate the integral. (\int_0^2 x^2\,dx) → 3
3. What is the subinterval width? (a=1,\quad b=5,\quad n=4) → B
4. Which value is doubled in the two-subinterval trapezoidal rule? (y_0,\ y_1,\ y_2) →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the summary with students.
Revisit the learning intention: "Use the trapezoidal rule to approximate definite integrals and judge when the approximation is likely to overestimate or underestimate."
Key points:
Divide [a, b] into n equal subintervals of width  h = (b−a)/n.
Formula:  (h/2)[y₀ + 2y₁ + 2y₂ + ⋯ + 2yₙ₋₁ + yₙ]
Endpoints y₀ and yₙ — coefficient 1.  Interior values — coefficient 2.
From a table of values: read h from the x-spacing, then apply the formula.
Concave-up curve → trapezoids lie above → overestimate.
Concave-down curve → trapezoids lie below → underestimate.
More subintervals (smaller h) → closer approximation.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2983230"/>
          </a:xfrm>
          <a:prstGeom prst="rect">
            <a:avLst/>
          </a:prstGeom>
          <a:solidFill>
            <a:srgbClr val="1B3A6B"/>
          </a:solidFill>
          <a:ln/>
        </p:spPr>
      </p:sp>
      <p:sp>
        <p:nvSpPr>
          <p:cNvPr id="3" name="Text 1"/>
          <p:cNvSpPr/>
          <p:nvPr/>
        </p:nvSpPr>
        <p:spPr>
          <a:xfrm>
            <a:off x="384048" y="457200"/>
            <a:ext cx="8375904" cy="1554480"/>
          </a:xfrm>
          <a:prstGeom prst="rect">
            <a:avLst/>
          </a:prstGeom>
          <a:noFill/>
          <a:ln/>
        </p:spPr>
        <p:txBody>
          <a:bodyPr wrap="square" rtlCol="0" anchor="ctr"/>
          <a:lstStyle/>
          <a:p>
            <a:pPr algn="ctr" indent="0" marL="0">
              <a:buNone/>
            </a:pPr>
            <a:r>
              <a:rPr lang="en-US" sz="3400" b="1" dirty="0">
                <a:solidFill>
                  <a:srgbClr val="FFFFFF"/>
                </a:solidFill>
              </a:rPr>
              <a:t>The Trapezoidal Rule</a:t>
            </a:r>
            <a:endParaRPr lang="en-US" sz="3400" dirty="0"/>
          </a:p>
        </p:txBody>
      </p:sp>
      <p:sp>
        <p:nvSpPr>
          <p:cNvPr id="4" name="Text 2"/>
          <p:cNvSpPr/>
          <p:nvPr/>
        </p:nvSpPr>
        <p:spPr>
          <a:xfrm>
            <a:off x="384048" y="2011680"/>
            <a:ext cx="8375904" cy="411480"/>
          </a:xfrm>
          <a:prstGeom prst="rect">
            <a:avLst/>
          </a:prstGeom>
          <a:noFill/>
          <a:ln/>
        </p:spPr>
        <p:txBody>
          <a:bodyPr wrap="square" rtlCol="0" anchor="ctr"/>
          <a:lstStyle/>
          <a:p>
            <a:pPr algn="ctr" indent="0" marL="0">
              <a:buNone/>
            </a:pPr>
            <a:r>
              <a:rPr lang="en-US" sz="1300" dirty="0">
                <a:solidFill>
                  <a:srgbClr val="BDD9F2"/>
                </a:solidFill>
              </a:rPr>
              <a:t>Year 12 Mathematics Advanced  ·  Further Integral Calculus</a:t>
            </a:r>
            <a:endParaRPr lang="en-US" sz="1300" dirty="0"/>
          </a:p>
        </p:txBody>
      </p:sp>
      <p:sp>
        <p:nvSpPr>
          <p:cNvPr id="5" name="Text 3"/>
          <p:cNvSpPr/>
          <p:nvPr/>
        </p:nvSpPr>
        <p:spPr>
          <a:xfrm>
            <a:off x="1371600" y="3154680"/>
            <a:ext cx="6400800" cy="868680"/>
          </a:xfrm>
          <a:prstGeom prst="rect">
            <a:avLst/>
          </a:prstGeom>
          <a:noFill/>
          <a:ln/>
        </p:spPr>
        <p:txBody>
          <a:bodyPr wrap="square" rtlCol="0" anchor="ctr"/>
          <a:lstStyle/>
          <a:p>
            <a:pPr algn="ctr" indent="0" marL="0">
              <a:buNone/>
            </a:pPr>
            <a:r>
              <a:rPr lang="en-US" sz="1100" i="1" dirty="0">
                <a:solidFill>
                  <a:srgbClr val="555555"/>
                </a:solidFill>
              </a:rPr>
              <a:t>Approximate definite integrals from functions or tables using one or more trapezoids, and interpret the effect of concavity.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p:spPr>
      </p:sp>
      <p:sp>
        <p:nvSpPr>
          <p:cNvPr id="3" name="Text 1"/>
          <p:cNvSpPr/>
          <p:nvPr/>
        </p:nvSpPr>
        <p:spPr>
          <a:xfrm>
            <a:off x="384048" y="0"/>
            <a:ext cx="8375904" cy="658368"/>
          </a:xfrm>
          <a:prstGeom prst="rect">
            <a:avLst/>
          </a:prstGeom>
          <a:noFill/>
          <a:ln/>
        </p:spPr>
        <p:txBody>
          <a:bodyPr wrap="square" rtlCol="0" anchor="ctr"/>
          <a:lstStyle/>
          <a:p>
            <a:pPr indent="0" marL="0">
              <a:buNone/>
            </a:pPr>
            <a:r>
              <a:rPr lang="en-US" sz="1800" b="1" dirty="0">
                <a:solidFill>
                  <a:srgbClr val="FFFFFF"/>
                </a:solidFill>
              </a:rPr>
              <a:t>Learning Intention &amp; Success Criteria</a:t>
            </a:r>
            <a:endParaRPr lang="en-US" sz="1800" dirty="0"/>
          </a:p>
        </p:txBody>
      </p:sp>
      <p:sp>
        <p:nvSpPr>
          <p:cNvPr id="4" name="Shape 2"/>
          <p:cNvSpPr/>
          <p:nvPr/>
        </p:nvSpPr>
        <p:spPr>
          <a:xfrm>
            <a:off x="384048" y="841248"/>
            <a:ext cx="8375904" cy="640080"/>
          </a:xfrm>
          <a:prstGeom prst="rect">
            <a:avLst/>
          </a:prstGeom>
          <a:solidFill>
            <a:srgbClr val="EBF4FF"/>
          </a:solidFill>
          <a:ln/>
        </p:spPr>
      </p:sp>
      <p:sp>
        <p:nvSpPr>
          <p:cNvPr id="5" name="Text 3"/>
          <p:cNvSpPr/>
          <p:nvPr/>
        </p:nvSpPr>
        <p:spPr>
          <a:xfrm>
            <a:off x="512064" y="877824"/>
            <a:ext cx="8119872" cy="566928"/>
          </a:xfrm>
          <a:prstGeom prst="rect">
            <a:avLst/>
          </a:prstGeom>
          <a:noFill/>
          <a:ln/>
        </p:spPr>
        <p:txBody>
          <a:bodyPr wrap="square" rtlCol="0" anchor="ctr"/>
          <a:lstStyle/>
          <a:p>
            <a:pPr indent="0" marL="0">
              <a:buNone/>
            </a:pPr>
            <a:r>
              <a:rPr lang="en-US" sz="1200" i="1" dirty="0">
                <a:solidFill>
                  <a:srgbClr val="1A1A1A"/>
                </a:solidFill>
              </a:rPr>
              <a:t>Use the trapezoidal rule to approximate definite integrals and judge when the approximation is likely to overestimate or underestimate.</a:t>
            </a:r>
            <a:endParaRPr lang="en-US" sz="1200" dirty="0"/>
          </a:p>
        </p:txBody>
      </p:sp>
      <p:sp>
        <p:nvSpPr>
          <p:cNvPr id="6" name="Text 4"/>
          <p:cNvSpPr/>
          <p:nvPr/>
        </p:nvSpPr>
        <p:spPr>
          <a:xfrm>
            <a:off x="384048" y="1591056"/>
            <a:ext cx="8375904" cy="274320"/>
          </a:xfrm>
          <a:prstGeom prst="rect">
            <a:avLst/>
          </a:prstGeom>
          <a:noFill/>
          <a:ln/>
        </p:spPr>
        <p:txBody>
          <a:bodyPr wrap="square" rtlCol="0" anchor="ctr"/>
          <a:lstStyle/>
          <a:p>
            <a:pPr indent="0" marL="0">
              <a:buNone/>
            </a:pPr>
            <a:r>
              <a:rPr lang="en-US" sz="1050" b="1" dirty="0">
                <a:solidFill>
                  <a:srgbClr val="1B3A6B"/>
                </a:solidFill>
              </a:rPr>
              <a:t>By the end of this lesson you will be able to:</a:t>
            </a:r>
            <a:endParaRPr lang="en-US" sz="1050" dirty="0"/>
          </a:p>
        </p:txBody>
      </p:sp>
      <p:sp>
        <p:nvSpPr>
          <p:cNvPr id="7" name="Text 5"/>
          <p:cNvSpPr/>
          <p:nvPr/>
        </p:nvSpPr>
        <p:spPr>
          <a:xfrm>
            <a:off x="475488" y="1901952"/>
            <a:ext cx="8193024" cy="3040380"/>
          </a:xfrm>
          <a:prstGeom prst="rect">
            <a:avLst/>
          </a:prstGeom>
          <a:noFill/>
          <a:ln/>
        </p:spPr>
        <p:txBody>
          <a:bodyPr wrap="square" rtlCol="0" anchor="ctr"/>
          <a:lstStyle/>
          <a:p>
            <a:pPr marL="342900" indent="-342900">
              <a:spcAft>
                <a:spcPts val="200"/>
              </a:spcAft>
              <a:buSzPct val="100000"/>
              <a:buChar char="•"/>
            </a:pPr>
            <a:r>
              <a:rPr lang="en-US" sz="1050" dirty="0">
                <a:solidFill>
                  <a:srgbClr val="1A1A1A"/>
                </a:solidFill>
              </a:rPr>
              <a:t>Identify the subinterval width h from limits and number of subintervals.</a:t>
            </a:r>
            <a:endParaRPr lang="en-US" sz="1050" dirty="0"/>
          </a:p>
          <a:p>
            <a:pPr marL="342900" indent="-342900">
              <a:spcAft>
                <a:spcPts val="200"/>
              </a:spcAft>
              <a:buSzPct val="100000"/>
              <a:buChar char="•"/>
            </a:pPr>
            <a:r>
              <a:rPr lang="en-US" sz="1050" dirty="0">
                <a:solidFill>
                  <a:srgbClr val="1A1A1A"/>
                </a:solidFill>
              </a:rPr>
              <a:t>Apply the trapezoidal rule using endpoint and interior y-values.</a:t>
            </a:r>
            <a:endParaRPr lang="en-US" sz="1050" dirty="0"/>
          </a:p>
          <a:p>
            <a:pPr marL="342900" indent="-342900">
              <a:spcAft>
                <a:spcPts val="200"/>
              </a:spcAft>
              <a:buSzPct val="100000"/>
              <a:buChar char="•"/>
            </a:pPr>
            <a:r>
              <a:rPr lang="en-US" sz="1050" dirty="0">
                <a:solidFill>
                  <a:srgbClr val="1A1A1A"/>
                </a:solidFill>
              </a:rPr>
              <a:t>Use one trapezoid and two trapezoids in simple function examples.</a:t>
            </a:r>
            <a:endParaRPr lang="en-US" sz="1050" dirty="0"/>
          </a:p>
          <a:p>
            <a:pPr marL="342900" indent="-342900">
              <a:spcAft>
                <a:spcPts val="200"/>
              </a:spcAft>
              <a:buSzPct val="100000"/>
              <a:buChar char="•"/>
            </a:pPr>
            <a:r>
              <a:rPr lang="en-US" sz="1050" dirty="0">
                <a:solidFill>
                  <a:srgbClr val="1A1A1A"/>
                </a:solidFill>
              </a:rPr>
              <a:t>Approximate an integral from a table of values.</a:t>
            </a:r>
            <a:endParaRPr lang="en-US" sz="1050" dirty="0"/>
          </a:p>
          <a:p>
            <a:pPr marL="342900" indent="-342900">
              <a:spcAft>
                <a:spcPts val="200"/>
              </a:spcAft>
              <a:buSzPct val="100000"/>
              <a:buChar char="•"/>
            </a:pPr>
            <a:r>
              <a:rPr lang="en-US" sz="1050" dirty="0">
                <a:solidFill>
                  <a:srgbClr val="1A1A1A"/>
                </a:solidFill>
              </a:rPr>
              <a:t>Recognise common coefficient errors in the trapezoidal formula.</a:t>
            </a:r>
            <a:endParaRPr lang="en-US" sz="1050" dirty="0"/>
          </a:p>
          <a:p>
            <a:pPr marL="342900" indent="-342900">
              <a:spcAft>
                <a:spcPts val="200"/>
              </a:spcAft>
              <a:buSzPct val="100000"/>
              <a:buChar char="•"/>
            </a:pPr>
            <a:r>
              <a:rPr lang="en-US" sz="1050" dirty="0">
                <a:solidFill>
                  <a:srgbClr val="1A1A1A"/>
                </a:solidFill>
              </a:rPr>
              <a:t>Use concavity to decide whether the approximation overestimates or underestimates.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p:spPr>
      </p:sp>
      <p:sp>
        <p:nvSpPr>
          <p:cNvPr id="3" name="Text 1"/>
          <p:cNvSpPr/>
          <p:nvPr/>
        </p:nvSpPr>
        <p:spPr>
          <a:xfrm>
            <a:off x="384048" y="0"/>
            <a:ext cx="8375904" cy="658368"/>
          </a:xfrm>
          <a:prstGeom prst="rect">
            <a:avLst/>
          </a:prstGeom>
          <a:noFill/>
          <a:ln/>
        </p:spPr>
        <p:txBody>
          <a:bodyPr wrap="square" rtlCol="0" anchor="ctr"/>
          <a:lstStyle/>
          <a:p>
            <a:pPr indent="0" marL="0">
              <a:buNone/>
            </a:pPr>
            <a:r>
              <a:rPr lang="en-US" sz="1800" b="1" dirty="0">
                <a:solidFill>
                  <a:srgbClr val="FFFFFF"/>
                </a:solidFill>
              </a:rPr>
              <a:t>The Trapezoidal Rule – Key Formula</a:t>
            </a:r>
            <a:endParaRPr lang="en-US" sz="1800" dirty="0"/>
          </a:p>
        </p:txBody>
      </p:sp>
      <p:sp>
        <p:nvSpPr>
          <p:cNvPr id="4" name="Text 2"/>
          <p:cNvSpPr/>
          <p:nvPr/>
        </p:nvSpPr>
        <p:spPr>
          <a:xfrm>
            <a:off x="384048" y="841248"/>
            <a:ext cx="8375904" cy="347472"/>
          </a:xfrm>
          <a:prstGeom prst="rect">
            <a:avLst/>
          </a:prstGeom>
          <a:noFill/>
          <a:ln/>
        </p:spPr>
        <p:txBody>
          <a:bodyPr wrap="square" rtlCol="0" anchor="ctr"/>
          <a:lstStyle/>
          <a:p>
            <a:pPr indent="0" marL="0">
              <a:buNone/>
            </a:pPr>
            <a:r>
              <a:rPr lang="en-US" sz="1100" dirty="0">
                <a:solidFill>
                  <a:srgbClr val="1A1A1A"/>
                </a:solidFill>
              </a:rPr>
              <a:t>The trapezoidal rule approximates a definite integral by replacing a curve with straight line segments and adding the areas of trapezoids.</a:t>
            </a:r>
            <a:endParaRPr lang="en-US" sz="1100" dirty="0"/>
          </a:p>
        </p:txBody>
      </p:sp>
      <p:sp>
        <p:nvSpPr>
          <p:cNvPr id="5" name="Text 3"/>
          <p:cNvSpPr/>
          <p:nvPr/>
        </p:nvSpPr>
        <p:spPr>
          <a:xfrm>
            <a:off x="384048" y="1207008"/>
            <a:ext cx="8375904" cy="347472"/>
          </a:xfrm>
          <a:prstGeom prst="rect">
            <a:avLst/>
          </a:prstGeom>
          <a:noFill/>
          <a:ln/>
        </p:spPr>
        <p:txBody>
          <a:bodyPr wrap="square" rtlCol="0" anchor="ctr"/>
          <a:lstStyle/>
          <a:p>
            <a:pPr indent="0" marL="0">
              <a:buNone/>
            </a:pPr>
            <a:r>
              <a:rPr lang="en-US" sz="1100" i="1" dirty="0">
                <a:solidFill>
                  <a:srgbClr val="555555"/>
                </a:solidFill>
              </a:rPr>
              <a:t>Endpoint y-values are used once. Interior y-values are used twice because each interior height belongs to two neighbouring trapezoids.</a:t>
            </a:r>
            <a:endParaRPr lang="en-US" sz="1100" dirty="0"/>
          </a:p>
        </p:txBody>
      </p:sp>
      <p:sp>
        <p:nvSpPr>
          <p:cNvPr id="6" name="Shape 4"/>
          <p:cNvSpPr/>
          <p:nvPr/>
        </p:nvSpPr>
        <p:spPr>
          <a:xfrm>
            <a:off x="384048" y="1664208"/>
            <a:ext cx="8375904" cy="658368"/>
          </a:xfrm>
          <a:prstGeom prst="rect">
            <a:avLst/>
          </a:prstGeom>
          <a:solidFill>
            <a:srgbClr val="FFF8E1"/>
          </a:solidFill>
          <a:ln/>
        </p:spPr>
      </p:sp>
      <p:sp>
        <p:nvSpPr>
          <p:cNvPr id="7" name="Text 5"/>
          <p:cNvSpPr/>
          <p:nvPr/>
        </p:nvSpPr>
        <p:spPr>
          <a:xfrm>
            <a:off x="493776" y="1719072"/>
            <a:ext cx="8156448" cy="548640"/>
          </a:xfrm>
          <a:prstGeom prst="rect">
            <a:avLst/>
          </a:prstGeom>
          <a:noFill/>
          <a:ln/>
        </p:spPr>
        <p:txBody>
          <a:bodyPr wrap="square" rtlCol="0" anchor="ctr"/>
          <a:lstStyle/>
          <a:p>
            <a:pPr indent="0" marL="0">
              <a:buNone/>
            </a:pPr>
            <a:r>
              <a:rPr lang="en-US" sz="1300" dirty="0">
                <a:solidFill>
                  <a:srgbClr val="1A1A1A"/>
                </a:solidFill>
                <a:latin typeface="Cambria Math" pitchFamily="34" charset="0"/>
                <a:ea typeface="Cambria Math" pitchFamily="34" charset="-122"/>
                <a:cs typeface="Cambria Math" pitchFamily="34" charset="-120"/>
              </a:rPr>
              <a:t>∫ f(x) dx ≈ h/2[y₀+2y₁+2y₂+⋯+2yₙ₋₁+yₙ]</a:t>
            </a:r>
            <a:endParaRPr lang="en-US" sz="1300" dirty="0"/>
          </a:p>
        </p:txBody>
      </p:sp>
      <p:sp>
        <p:nvSpPr>
          <p:cNvPr id="8" name="Shape 6"/>
          <p:cNvSpPr/>
          <p:nvPr/>
        </p:nvSpPr>
        <p:spPr>
          <a:xfrm>
            <a:off x="384048" y="2432304"/>
            <a:ext cx="3936675" cy="475488"/>
          </a:xfrm>
          <a:prstGeom prst="rect">
            <a:avLst/>
          </a:prstGeom>
          <a:solidFill>
            <a:srgbClr val="FFF8E1"/>
          </a:solidFill>
          <a:ln/>
        </p:spPr>
      </p:sp>
      <p:sp>
        <p:nvSpPr>
          <p:cNvPr id="9" name="Text 7"/>
          <p:cNvSpPr/>
          <p:nvPr/>
        </p:nvSpPr>
        <p:spPr>
          <a:xfrm>
            <a:off x="493776" y="2487168"/>
            <a:ext cx="3717219" cy="365760"/>
          </a:xfrm>
          <a:prstGeom prst="rect">
            <a:avLst/>
          </a:prstGeom>
          <a:noFill/>
          <a:ln/>
        </p:spPr>
        <p:txBody>
          <a:bodyPr wrap="square" rtlCol="0" anchor="ctr"/>
          <a:lstStyle/>
          <a:p>
            <a:pPr indent="0" marL="0">
              <a:buNone/>
            </a:pPr>
            <a:r>
              <a:rPr lang="en-US" sz="1300" dirty="0">
                <a:solidFill>
                  <a:srgbClr val="1A1A1A"/>
                </a:solidFill>
                <a:latin typeface="Cambria Math" pitchFamily="34" charset="0"/>
                <a:ea typeface="Cambria Math" pitchFamily="34" charset="-122"/>
                <a:cs typeface="Cambria Math" pitchFamily="34" charset="-120"/>
              </a:rPr>
              <a:t>h=(b-a)/(n)</a:t>
            </a:r>
            <a:endParaRPr lang="en-US" sz="1300" dirty="0"/>
          </a:p>
        </p:txBody>
      </p:sp>
      <p:sp>
        <p:nvSpPr>
          <p:cNvPr id="10" name="Shape 8"/>
          <p:cNvSpPr/>
          <p:nvPr/>
        </p:nvSpPr>
        <p:spPr>
          <a:xfrm>
            <a:off x="4572000" y="2432304"/>
            <a:ext cx="3936675" cy="475488"/>
          </a:xfrm>
          <a:prstGeom prst="rect">
            <a:avLst/>
          </a:prstGeom>
          <a:solidFill>
            <a:srgbClr val="FFF8E1"/>
          </a:solidFill>
          <a:ln/>
        </p:spPr>
      </p:sp>
      <p:sp>
        <p:nvSpPr>
          <p:cNvPr id="11" name="Text 9"/>
          <p:cNvSpPr/>
          <p:nvPr/>
        </p:nvSpPr>
        <p:spPr>
          <a:xfrm>
            <a:off x="4681728" y="2487168"/>
            <a:ext cx="3717219" cy="365760"/>
          </a:xfrm>
          <a:prstGeom prst="rect">
            <a:avLst/>
          </a:prstGeom>
          <a:noFill/>
          <a:ln/>
        </p:spPr>
        <p:txBody>
          <a:bodyPr wrap="square" rtlCol="0" anchor="ctr"/>
          <a:lstStyle/>
          <a:p>
            <a:pPr indent="0" marL="0">
              <a:buNone/>
            </a:pPr>
            <a:r>
              <a:rPr lang="en-US" sz="1300" dirty="0">
                <a:solidFill>
                  <a:srgbClr val="1A1A1A"/>
                </a:solidFill>
                <a:latin typeface="Cambria Math" pitchFamily="34" charset="0"/>
                <a:ea typeface="Cambria Math" pitchFamily="34" charset="-122"/>
                <a:cs typeface="Cambria Math" pitchFamily="34" charset="-120"/>
              </a:rPr>
              <a:t>one subinterval: h/2(y₀+y₁)</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p:spPr>
      </p:sp>
      <p:sp>
        <p:nvSpPr>
          <p:cNvPr id="3" name="Text 1"/>
          <p:cNvSpPr/>
          <p:nvPr/>
        </p:nvSpPr>
        <p:spPr>
          <a:xfrm>
            <a:off x="384048" y="0"/>
            <a:ext cx="8375904" cy="658368"/>
          </a:xfrm>
          <a:prstGeom prst="rect">
            <a:avLst/>
          </a:prstGeom>
          <a:noFill/>
          <a:ln/>
        </p:spPr>
        <p:txBody>
          <a:bodyPr wrap="square" rtlCol="0" anchor="ctr"/>
          <a:lstStyle/>
          <a:p>
            <a:pPr indent="0" marL="0">
              <a:buNone/>
            </a:pPr>
            <a:r>
              <a:rPr lang="en-US" sz="1800" b="1" dirty="0">
                <a:solidFill>
                  <a:srgbClr val="FFFFFF"/>
                </a:solidFill>
              </a:rPr>
              <a:t>Worked Example 1: One Trapezoid</a:t>
            </a:r>
            <a:endParaRPr lang="en-US" sz="1800" dirty="0"/>
          </a:p>
        </p:txBody>
      </p:sp>
      <p:sp>
        <p:nvSpPr>
          <p:cNvPr id="4" name="Shape 2"/>
          <p:cNvSpPr/>
          <p:nvPr/>
        </p:nvSpPr>
        <p:spPr>
          <a:xfrm>
            <a:off x="384048" y="841248"/>
            <a:ext cx="8375904" cy="493776"/>
          </a:xfrm>
          <a:prstGeom prst="rect">
            <a:avLst/>
          </a:prstGeom>
          <a:solidFill>
            <a:srgbClr val="EBF4FF"/>
          </a:solidFill>
          <a:ln/>
        </p:spPr>
      </p:sp>
      <p:sp>
        <p:nvSpPr>
          <p:cNvPr id="5" name="Text 3"/>
          <p:cNvSpPr/>
          <p:nvPr/>
        </p:nvSpPr>
        <p:spPr>
          <a:xfrm>
            <a:off x="512064" y="877824"/>
            <a:ext cx="8119872" cy="420624"/>
          </a:xfrm>
          <a:prstGeom prst="rect">
            <a:avLst/>
          </a:prstGeom>
          <a:noFill/>
          <a:ln/>
        </p:spPr>
        <p:txBody>
          <a:bodyPr wrap="square" rtlCol="0" anchor="ctr"/>
          <a:lstStyle/>
          <a:p>
            <a:pPr indent="0" marL="0">
              <a:buNone/>
            </a:pPr>
            <a:r>
              <a:rPr lang="en-US" sz="1200" dirty="0">
                <a:solidFill>
                  <a:srgbClr val="1A1A1A"/>
                </a:solidFill>
                <a:latin typeface="Cambria Math" pitchFamily="34" charset="0"/>
                <a:ea typeface="Cambria Math" pitchFamily="34" charset="-122"/>
                <a:cs typeface="Cambria Math" pitchFamily="34" charset="-120"/>
              </a:rPr>
              <a:t>Use one trapezoid to approximate ∫ x² dx.</a:t>
            </a:r>
            <a:endParaRPr lang="en-US" sz="1200" dirty="0"/>
          </a:p>
        </p:txBody>
      </p:sp>
      <p:sp>
        <p:nvSpPr>
          <p:cNvPr id="6" name="Text 4"/>
          <p:cNvSpPr/>
          <p:nvPr/>
        </p:nvSpPr>
        <p:spPr>
          <a:xfrm>
            <a:off x="384048" y="1444752"/>
            <a:ext cx="4522988" cy="347472"/>
          </a:xfrm>
          <a:prstGeom prst="rect">
            <a:avLst/>
          </a:prstGeom>
          <a:noFill/>
          <a:ln/>
        </p:spPr>
        <p:txBody>
          <a:bodyPr wrap="square" rtlCol="0" anchor="ctr"/>
          <a:lstStyle/>
          <a:p>
            <a:pPr indent="0" marL="0">
              <a:buNone/>
            </a:pPr>
            <a:r>
              <a:rPr lang="en-US" sz="1100" dirty="0">
                <a:solidFill>
                  <a:srgbClr val="1A1A1A"/>
                </a:solidFill>
              </a:rPr>
              <a:t>1.  With one subinterval, the width is 2.</a:t>
            </a:r>
            <a:endParaRPr lang="en-US" sz="1100" dirty="0"/>
          </a:p>
        </p:txBody>
      </p:sp>
      <p:sp>
        <p:nvSpPr>
          <p:cNvPr id="7" name="Shape 5"/>
          <p:cNvSpPr/>
          <p:nvPr/>
        </p:nvSpPr>
        <p:spPr>
          <a:xfrm>
            <a:off x="5158313" y="1444752"/>
            <a:ext cx="3434121" cy="329184"/>
          </a:xfrm>
          <a:prstGeom prst="rect">
            <a:avLst/>
          </a:prstGeom>
          <a:solidFill>
            <a:srgbClr val="FFF8E1"/>
          </a:solidFill>
          <a:ln/>
        </p:spPr>
      </p:sp>
      <p:sp>
        <p:nvSpPr>
          <p:cNvPr id="8" name="Text 6"/>
          <p:cNvSpPr/>
          <p:nvPr/>
        </p:nvSpPr>
        <p:spPr>
          <a:xfrm>
            <a:off x="5249753" y="1472184"/>
            <a:ext cx="3251241" cy="274320"/>
          </a:xfrm>
          <a:prstGeom prst="rect">
            <a:avLst/>
          </a:prstGeom>
          <a:noFill/>
          <a:ln/>
        </p:spPr>
        <p:txBody>
          <a:bodyPr wrap="square" rtlCol="0" anchor="ctr"/>
          <a:lstStyle/>
          <a:p>
            <a:pPr indent="0" marL="0">
              <a:buNone/>
            </a:pPr>
            <a:r>
              <a:rPr lang="en-US" sz="1200" dirty="0">
                <a:solidFill>
                  <a:srgbClr val="1A1A1A"/>
                </a:solidFill>
                <a:latin typeface="Cambria Math" pitchFamily="34" charset="0"/>
                <a:ea typeface="Cambria Math" pitchFamily="34" charset="-122"/>
                <a:cs typeface="Cambria Math" pitchFamily="34" charset="-120"/>
              </a:rPr>
              <a:t>h=2</a:t>
            </a:r>
            <a:endParaRPr lang="en-US" sz="1200" dirty="0"/>
          </a:p>
        </p:txBody>
      </p:sp>
      <p:sp>
        <p:nvSpPr>
          <p:cNvPr id="9" name="Text 7"/>
          <p:cNvSpPr/>
          <p:nvPr/>
        </p:nvSpPr>
        <p:spPr>
          <a:xfrm>
            <a:off x="384048" y="1847088"/>
            <a:ext cx="4522988" cy="347472"/>
          </a:xfrm>
          <a:prstGeom prst="rect">
            <a:avLst/>
          </a:prstGeom>
          <a:noFill/>
          <a:ln/>
        </p:spPr>
        <p:txBody>
          <a:bodyPr wrap="square" rtlCol="0" anchor="ctr"/>
          <a:lstStyle/>
          <a:p>
            <a:pPr indent="0" marL="0">
              <a:buNone/>
            </a:pPr>
            <a:r>
              <a:rPr lang="en-US" sz="1100" dirty="0">
                <a:solidFill>
                  <a:srgbClr val="1A1A1A"/>
                </a:solidFill>
              </a:rPr>
              <a:t>2.  Find the endpoint y-values.</a:t>
            </a:r>
            <a:endParaRPr lang="en-US" sz="1100" dirty="0"/>
          </a:p>
        </p:txBody>
      </p:sp>
      <p:sp>
        <p:nvSpPr>
          <p:cNvPr id="10" name="Shape 8"/>
          <p:cNvSpPr/>
          <p:nvPr/>
        </p:nvSpPr>
        <p:spPr>
          <a:xfrm>
            <a:off x="5158313" y="1847088"/>
            <a:ext cx="3434121" cy="329184"/>
          </a:xfrm>
          <a:prstGeom prst="rect">
            <a:avLst/>
          </a:prstGeom>
          <a:solidFill>
            <a:srgbClr val="FFF8E1"/>
          </a:solidFill>
          <a:ln/>
        </p:spPr>
      </p:sp>
      <p:sp>
        <p:nvSpPr>
          <p:cNvPr id="11" name="Text 9"/>
          <p:cNvSpPr/>
          <p:nvPr/>
        </p:nvSpPr>
        <p:spPr>
          <a:xfrm>
            <a:off x="5249753" y="1874520"/>
            <a:ext cx="3251241" cy="274320"/>
          </a:xfrm>
          <a:prstGeom prst="rect">
            <a:avLst/>
          </a:prstGeom>
          <a:noFill/>
          <a:ln/>
        </p:spPr>
        <p:txBody>
          <a:bodyPr wrap="square" rtlCol="0" anchor="ctr"/>
          <a:lstStyle/>
          <a:p>
            <a:pPr indent="0" marL="0">
              <a:buNone/>
            </a:pPr>
            <a:r>
              <a:rPr lang="en-US" sz="1200" dirty="0">
                <a:solidFill>
                  <a:srgbClr val="1A1A1A"/>
                </a:solidFill>
                <a:latin typeface="Cambria Math" pitchFamily="34" charset="0"/>
                <a:ea typeface="Cambria Math" pitchFamily="34" charset="-122"/>
                <a:cs typeface="Cambria Math" pitchFamily="34" charset="-120"/>
              </a:rPr>
              <a:t>y₀=f(0)=0, y₁=f(2)=4</a:t>
            </a:r>
            <a:endParaRPr lang="en-US" sz="1200" dirty="0"/>
          </a:p>
        </p:txBody>
      </p:sp>
      <p:sp>
        <p:nvSpPr>
          <p:cNvPr id="12" name="Text 10"/>
          <p:cNvSpPr/>
          <p:nvPr/>
        </p:nvSpPr>
        <p:spPr>
          <a:xfrm>
            <a:off x="384048" y="2249424"/>
            <a:ext cx="4522988" cy="347472"/>
          </a:xfrm>
          <a:prstGeom prst="rect">
            <a:avLst/>
          </a:prstGeom>
          <a:noFill/>
          <a:ln/>
        </p:spPr>
        <p:txBody>
          <a:bodyPr wrap="square" rtlCol="0" anchor="ctr"/>
          <a:lstStyle/>
          <a:p>
            <a:pPr indent="0" marL="0">
              <a:buNone/>
            </a:pPr>
            <a:r>
              <a:rPr lang="en-US" sz="1100" dirty="0">
                <a:solidFill>
                  <a:srgbClr val="1A1A1A"/>
                </a:solidFill>
              </a:rPr>
              <a:t>3.  Use the one-trapezoid rule.</a:t>
            </a:r>
            <a:endParaRPr lang="en-US" sz="1100" dirty="0"/>
          </a:p>
        </p:txBody>
      </p:sp>
      <p:sp>
        <p:nvSpPr>
          <p:cNvPr id="13" name="Shape 11"/>
          <p:cNvSpPr/>
          <p:nvPr/>
        </p:nvSpPr>
        <p:spPr>
          <a:xfrm>
            <a:off x="5158313" y="2249424"/>
            <a:ext cx="3434121" cy="329184"/>
          </a:xfrm>
          <a:prstGeom prst="rect">
            <a:avLst/>
          </a:prstGeom>
          <a:solidFill>
            <a:srgbClr val="FFF8E1"/>
          </a:solidFill>
          <a:ln/>
        </p:spPr>
      </p:sp>
      <p:sp>
        <p:nvSpPr>
          <p:cNvPr id="14" name="Text 12"/>
          <p:cNvSpPr/>
          <p:nvPr/>
        </p:nvSpPr>
        <p:spPr>
          <a:xfrm>
            <a:off x="5249753" y="2276856"/>
            <a:ext cx="3251241" cy="274320"/>
          </a:xfrm>
          <a:prstGeom prst="rect">
            <a:avLst/>
          </a:prstGeom>
          <a:noFill/>
          <a:ln/>
        </p:spPr>
        <p:txBody>
          <a:bodyPr wrap="square" rtlCol="0" anchor="ctr"/>
          <a:lstStyle/>
          <a:p>
            <a:pPr indent="0" marL="0">
              <a:buNone/>
            </a:pPr>
            <a:r>
              <a:rPr lang="en-US" sz="1200" dirty="0">
                <a:solidFill>
                  <a:srgbClr val="1A1A1A"/>
                </a:solidFill>
                <a:latin typeface="Cambria Math" pitchFamily="34" charset="0"/>
                <a:ea typeface="Cambria Math" pitchFamily="34" charset="-122"/>
                <a:cs typeface="Cambria Math" pitchFamily="34" charset="-120"/>
              </a:rPr>
              <a:t>(2)/(2)(0+4)=4</a:t>
            </a:r>
            <a:endParaRPr lang="en-US" sz="1200" dirty="0"/>
          </a:p>
        </p:txBody>
      </p:sp>
      <p:sp>
        <p:nvSpPr>
          <p:cNvPr id="15" name="Shape 13"/>
          <p:cNvSpPr/>
          <p:nvPr/>
        </p:nvSpPr>
        <p:spPr>
          <a:xfrm>
            <a:off x="384048" y="4558284"/>
            <a:ext cx="8375904" cy="402336"/>
          </a:xfrm>
          <a:prstGeom prst="rect">
            <a:avLst/>
          </a:prstGeom>
          <a:solidFill>
            <a:srgbClr val="1B3A6B"/>
          </a:solidFill>
          <a:ln/>
        </p:spPr>
      </p:sp>
      <p:sp>
        <p:nvSpPr>
          <p:cNvPr id="16" name="Text 14"/>
          <p:cNvSpPr/>
          <p:nvPr/>
        </p:nvSpPr>
        <p:spPr>
          <a:xfrm>
            <a:off x="530352" y="4576572"/>
            <a:ext cx="8083296" cy="365760"/>
          </a:xfrm>
          <a:prstGeom prst="rect">
            <a:avLst/>
          </a:prstGeom>
          <a:noFill/>
          <a:ln/>
        </p:spPr>
        <p:txBody>
          <a:bodyPr wrap="square" rtlCol="0" anchor="ctr"/>
          <a:lstStyle/>
          <a:p>
            <a:pPr indent="0" marL="0">
              <a:buNone/>
            </a:pPr>
            <a:r>
              <a:rPr lang="en-US" sz="1300" b="1" dirty="0">
                <a:solidFill>
                  <a:srgbClr val="FFFFFF"/>
                </a:solidFill>
                <a:latin typeface="Cambria Math" pitchFamily="34" charset="0"/>
                <a:ea typeface="Cambria Math" pitchFamily="34" charset="-122"/>
                <a:cs typeface="Cambria Math" pitchFamily="34" charset="-120"/>
              </a:rPr>
              <a:t>Answer:  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p:spPr>
      </p:sp>
      <p:sp>
        <p:nvSpPr>
          <p:cNvPr id="3" name="Text 1"/>
          <p:cNvSpPr/>
          <p:nvPr/>
        </p:nvSpPr>
        <p:spPr>
          <a:xfrm>
            <a:off x="384048" y="0"/>
            <a:ext cx="8375904" cy="658368"/>
          </a:xfrm>
          <a:prstGeom prst="rect">
            <a:avLst/>
          </a:prstGeom>
          <a:noFill/>
          <a:ln/>
        </p:spPr>
        <p:txBody>
          <a:bodyPr wrap="square" rtlCol="0" anchor="ctr"/>
          <a:lstStyle/>
          <a:p>
            <a:pPr indent="0" marL="0">
              <a:buNone/>
            </a:pPr>
            <a:r>
              <a:rPr lang="en-US" sz="1800" b="1" dirty="0">
                <a:solidFill>
                  <a:srgbClr val="FFFFFF"/>
                </a:solidFill>
              </a:rPr>
              <a:t>Worked Example 2: Two Trapezoids</a:t>
            </a:r>
            <a:endParaRPr lang="en-US" sz="1800" dirty="0"/>
          </a:p>
        </p:txBody>
      </p:sp>
      <p:sp>
        <p:nvSpPr>
          <p:cNvPr id="4" name="Shape 2"/>
          <p:cNvSpPr/>
          <p:nvPr/>
        </p:nvSpPr>
        <p:spPr>
          <a:xfrm>
            <a:off x="384048" y="841248"/>
            <a:ext cx="8375904" cy="493776"/>
          </a:xfrm>
          <a:prstGeom prst="rect">
            <a:avLst/>
          </a:prstGeom>
          <a:solidFill>
            <a:srgbClr val="EBF4FF"/>
          </a:solidFill>
          <a:ln/>
        </p:spPr>
      </p:sp>
      <p:sp>
        <p:nvSpPr>
          <p:cNvPr id="5" name="Text 3"/>
          <p:cNvSpPr/>
          <p:nvPr/>
        </p:nvSpPr>
        <p:spPr>
          <a:xfrm>
            <a:off x="512064" y="877824"/>
            <a:ext cx="8119872" cy="420624"/>
          </a:xfrm>
          <a:prstGeom prst="rect">
            <a:avLst/>
          </a:prstGeom>
          <a:noFill/>
          <a:ln/>
        </p:spPr>
        <p:txBody>
          <a:bodyPr wrap="square" rtlCol="0" anchor="ctr"/>
          <a:lstStyle/>
          <a:p>
            <a:pPr indent="0" marL="0">
              <a:buNone/>
            </a:pPr>
            <a:r>
              <a:rPr lang="en-US" sz="1200" dirty="0">
                <a:solidFill>
                  <a:srgbClr val="1A1A1A"/>
                </a:solidFill>
                <a:latin typeface="Cambria Math" pitchFamily="34" charset="0"/>
                <a:ea typeface="Cambria Math" pitchFamily="34" charset="-122"/>
                <a:cs typeface="Cambria Math" pitchFamily="34" charset="-120"/>
              </a:rPr>
              <a:t>Use two subintervals to approximate ∫ x² dx.</a:t>
            </a:r>
            <a:endParaRPr lang="en-US" sz="1200" dirty="0"/>
          </a:p>
        </p:txBody>
      </p:sp>
      <p:sp>
        <p:nvSpPr>
          <p:cNvPr id="6" name="Text 4"/>
          <p:cNvSpPr/>
          <p:nvPr/>
        </p:nvSpPr>
        <p:spPr>
          <a:xfrm>
            <a:off x="384048" y="1444752"/>
            <a:ext cx="4522988" cy="347472"/>
          </a:xfrm>
          <a:prstGeom prst="rect">
            <a:avLst/>
          </a:prstGeom>
          <a:noFill/>
          <a:ln/>
        </p:spPr>
        <p:txBody>
          <a:bodyPr wrap="square" rtlCol="0" anchor="ctr"/>
          <a:lstStyle/>
          <a:p>
            <a:pPr indent="0" marL="0">
              <a:buNone/>
            </a:pPr>
            <a:r>
              <a:rPr lang="en-US" sz="1100" dirty="0">
                <a:solidFill>
                  <a:srgbClr val="1A1A1A"/>
                </a:solidFill>
              </a:rPr>
              <a:t>1.  The width is one.</a:t>
            </a:r>
            <a:endParaRPr lang="en-US" sz="1100" dirty="0"/>
          </a:p>
        </p:txBody>
      </p:sp>
      <p:sp>
        <p:nvSpPr>
          <p:cNvPr id="7" name="Shape 5"/>
          <p:cNvSpPr/>
          <p:nvPr/>
        </p:nvSpPr>
        <p:spPr>
          <a:xfrm>
            <a:off x="5158313" y="1444752"/>
            <a:ext cx="3434121" cy="329184"/>
          </a:xfrm>
          <a:prstGeom prst="rect">
            <a:avLst/>
          </a:prstGeom>
          <a:solidFill>
            <a:srgbClr val="FFF8E1"/>
          </a:solidFill>
          <a:ln/>
        </p:spPr>
      </p:sp>
      <p:sp>
        <p:nvSpPr>
          <p:cNvPr id="8" name="Text 6"/>
          <p:cNvSpPr/>
          <p:nvPr/>
        </p:nvSpPr>
        <p:spPr>
          <a:xfrm>
            <a:off x="5249753" y="1472184"/>
            <a:ext cx="3251241" cy="274320"/>
          </a:xfrm>
          <a:prstGeom prst="rect">
            <a:avLst/>
          </a:prstGeom>
          <a:noFill/>
          <a:ln/>
        </p:spPr>
        <p:txBody>
          <a:bodyPr wrap="square" rtlCol="0" anchor="ctr"/>
          <a:lstStyle/>
          <a:p>
            <a:pPr indent="0" marL="0">
              <a:buNone/>
            </a:pPr>
            <a:r>
              <a:rPr lang="en-US" sz="1200" dirty="0">
                <a:solidFill>
                  <a:srgbClr val="1A1A1A"/>
                </a:solidFill>
                <a:latin typeface="Cambria Math" pitchFamily="34" charset="0"/>
                <a:ea typeface="Cambria Math" pitchFamily="34" charset="-122"/>
                <a:cs typeface="Cambria Math" pitchFamily="34" charset="-120"/>
              </a:rPr>
              <a:t>h=(2-0)/(2)=1</a:t>
            </a:r>
            <a:endParaRPr lang="en-US" sz="1200" dirty="0"/>
          </a:p>
        </p:txBody>
      </p:sp>
      <p:sp>
        <p:nvSpPr>
          <p:cNvPr id="9" name="Text 7"/>
          <p:cNvSpPr/>
          <p:nvPr/>
        </p:nvSpPr>
        <p:spPr>
          <a:xfrm>
            <a:off x="384048" y="1847088"/>
            <a:ext cx="4522988" cy="347472"/>
          </a:xfrm>
          <a:prstGeom prst="rect">
            <a:avLst/>
          </a:prstGeom>
          <a:noFill/>
          <a:ln/>
        </p:spPr>
        <p:txBody>
          <a:bodyPr wrap="square" rtlCol="0" anchor="ctr"/>
          <a:lstStyle/>
          <a:p>
            <a:pPr indent="0" marL="0">
              <a:buNone/>
            </a:pPr>
            <a:r>
              <a:rPr lang="en-US" sz="1100" dirty="0">
                <a:solidFill>
                  <a:srgbClr val="1A1A1A"/>
                </a:solidFill>
              </a:rPr>
              <a:t>2.  Use x-values 0, 1 and 2.</a:t>
            </a:r>
            <a:endParaRPr lang="en-US" sz="1100" dirty="0"/>
          </a:p>
        </p:txBody>
      </p:sp>
      <p:sp>
        <p:nvSpPr>
          <p:cNvPr id="10" name="Shape 8"/>
          <p:cNvSpPr/>
          <p:nvPr/>
        </p:nvSpPr>
        <p:spPr>
          <a:xfrm>
            <a:off x="5158313" y="1847088"/>
            <a:ext cx="3434121" cy="329184"/>
          </a:xfrm>
          <a:prstGeom prst="rect">
            <a:avLst/>
          </a:prstGeom>
          <a:solidFill>
            <a:srgbClr val="FFF8E1"/>
          </a:solidFill>
          <a:ln/>
        </p:spPr>
      </p:sp>
      <p:sp>
        <p:nvSpPr>
          <p:cNvPr id="11" name="Text 9"/>
          <p:cNvSpPr/>
          <p:nvPr/>
        </p:nvSpPr>
        <p:spPr>
          <a:xfrm>
            <a:off x="5249753" y="1874520"/>
            <a:ext cx="3251241" cy="274320"/>
          </a:xfrm>
          <a:prstGeom prst="rect">
            <a:avLst/>
          </a:prstGeom>
          <a:noFill/>
          <a:ln/>
        </p:spPr>
        <p:txBody>
          <a:bodyPr wrap="square" rtlCol="0" anchor="ctr"/>
          <a:lstStyle/>
          <a:p>
            <a:pPr indent="0" marL="0">
              <a:buNone/>
            </a:pPr>
            <a:r>
              <a:rPr lang="en-US" sz="1200" dirty="0">
                <a:solidFill>
                  <a:srgbClr val="1A1A1A"/>
                </a:solidFill>
                <a:latin typeface="Cambria Math" pitchFamily="34" charset="0"/>
                <a:ea typeface="Cambria Math" pitchFamily="34" charset="-122"/>
                <a:cs typeface="Cambria Math" pitchFamily="34" charset="-120"/>
              </a:rPr>
              <a:t>y₀=0, y₁=1, y₂=4</a:t>
            </a:r>
            <a:endParaRPr lang="en-US" sz="1200" dirty="0"/>
          </a:p>
        </p:txBody>
      </p:sp>
      <p:sp>
        <p:nvSpPr>
          <p:cNvPr id="12" name="Text 10"/>
          <p:cNvSpPr/>
          <p:nvPr/>
        </p:nvSpPr>
        <p:spPr>
          <a:xfrm>
            <a:off x="384048" y="2249424"/>
            <a:ext cx="4522988" cy="347472"/>
          </a:xfrm>
          <a:prstGeom prst="rect">
            <a:avLst/>
          </a:prstGeom>
          <a:noFill/>
          <a:ln/>
        </p:spPr>
        <p:txBody>
          <a:bodyPr wrap="square" rtlCol="0" anchor="ctr"/>
          <a:lstStyle/>
          <a:p>
            <a:pPr indent="0" marL="0">
              <a:buNone/>
            </a:pPr>
            <a:r>
              <a:rPr lang="en-US" sz="1100" dirty="0">
                <a:solidFill>
                  <a:srgbClr val="1A1A1A"/>
                </a:solidFill>
              </a:rPr>
              <a:t>3.  Double the interior value.</a:t>
            </a:r>
            <a:endParaRPr lang="en-US" sz="1100" dirty="0"/>
          </a:p>
        </p:txBody>
      </p:sp>
      <p:sp>
        <p:nvSpPr>
          <p:cNvPr id="13" name="Shape 11"/>
          <p:cNvSpPr/>
          <p:nvPr/>
        </p:nvSpPr>
        <p:spPr>
          <a:xfrm>
            <a:off x="5158313" y="2249424"/>
            <a:ext cx="3434121" cy="329184"/>
          </a:xfrm>
          <a:prstGeom prst="rect">
            <a:avLst/>
          </a:prstGeom>
          <a:solidFill>
            <a:srgbClr val="FFF8E1"/>
          </a:solidFill>
          <a:ln/>
        </p:spPr>
      </p:sp>
      <p:sp>
        <p:nvSpPr>
          <p:cNvPr id="14" name="Text 12"/>
          <p:cNvSpPr/>
          <p:nvPr/>
        </p:nvSpPr>
        <p:spPr>
          <a:xfrm>
            <a:off x="5249753" y="2276856"/>
            <a:ext cx="3251241" cy="274320"/>
          </a:xfrm>
          <a:prstGeom prst="rect">
            <a:avLst/>
          </a:prstGeom>
          <a:noFill/>
          <a:ln/>
        </p:spPr>
        <p:txBody>
          <a:bodyPr wrap="square" rtlCol="0" anchor="ctr"/>
          <a:lstStyle/>
          <a:p>
            <a:pPr indent="0" marL="0">
              <a:buNone/>
            </a:pPr>
            <a:r>
              <a:rPr lang="en-US" sz="1200" dirty="0">
                <a:solidFill>
                  <a:srgbClr val="1A1A1A"/>
                </a:solidFill>
                <a:latin typeface="Cambria Math" pitchFamily="34" charset="0"/>
                <a:ea typeface="Cambria Math" pitchFamily="34" charset="-122"/>
                <a:cs typeface="Cambria Math" pitchFamily="34" charset="-120"/>
              </a:rPr>
              <a:t>1/2(0+2(1)+4)=3</a:t>
            </a:r>
            <a:endParaRPr lang="en-US" sz="1200" dirty="0"/>
          </a:p>
        </p:txBody>
      </p:sp>
      <p:sp>
        <p:nvSpPr>
          <p:cNvPr id="15" name="Shape 13"/>
          <p:cNvSpPr/>
          <p:nvPr/>
        </p:nvSpPr>
        <p:spPr>
          <a:xfrm>
            <a:off x="384048" y="4558284"/>
            <a:ext cx="8375904" cy="402336"/>
          </a:xfrm>
          <a:prstGeom prst="rect">
            <a:avLst/>
          </a:prstGeom>
          <a:solidFill>
            <a:srgbClr val="1B3A6B"/>
          </a:solidFill>
          <a:ln/>
        </p:spPr>
      </p:sp>
      <p:sp>
        <p:nvSpPr>
          <p:cNvPr id="16" name="Text 14"/>
          <p:cNvSpPr/>
          <p:nvPr/>
        </p:nvSpPr>
        <p:spPr>
          <a:xfrm>
            <a:off x="530352" y="4576572"/>
            <a:ext cx="8083296" cy="365760"/>
          </a:xfrm>
          <a:prstGeom prst="rect">
            <a:avLst/>
          </a:prstGeom>
          <a:noFill/>
          <a:ln/>
        </p:spPr>
        <p:txBody>
          <a:bodyPr wrap="square" rtlCol="0" anchor="ctr"/>
          <a:lstStyle/>
          <a:p>
            <a:pPr indent="0" marL="0">
              <a:buNone/>
            </a:pPr>
            <a:r>
              <a:rPr lang="en-US" sz="1300" b="1" dirty="0">
                <a:solidFill>
                  <a:srgbClr val="FFFFFF"/>
                </a:solidFill>
                <a:latin typeface="Cambria Math" pitchFamily="34" charset="0"/>
                <a:ea typeface="Cambria Math" pitchFamily="34" charset="-122"/>
                <a:cs typeface="Cambria Math" pitchFamily="34" charset="-120"/>
              </a:rPr>
              <a:t>Answer:  3</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p:spPr>
      </p:sp>
      <p:sp>
        <p:nvSpPr>
          <p:cNvPr id="3" name="Text 1"/>
          <p:cNvSpPr/>
          <p:nvPr/>
        </p:nvSpPr>
        <p:spPr>
          <a:xfrm>
            <a:off x="384048" y="0"/>
            <a:ext cx="8375904" cy="658368"/>
          </a:xfrm>
          <a:prstGeom prst="rect">
            <a:avLst/>
          </a:prstGeom>
          <a:noFill/>
          <a:ln/>
        </p:spPr>
        <p:txBody>
          <a:bodyPr wrap="square" rtlCol="0" anchor="ctr"/>
          <a:lstStyle/>
          <a:p>
            <a:pPr indent="0" marL="0">
              <a:buNone/>
            </a:pPr>
            <a:r>
              <a:rPr lang="en-US" sz="1800" b="1" dirty="0">
                <a:solidFill>
                  <a:srgbClr val="FFFFFF"/>
                </a:solidFill>
              </a:rPr>
              <a:t>Worked Example 3: Table of Values</a:t>
            </a:r>
            <a:endParaRPr lang="en-US" sz="1800" dirty="0"/>
          </a:p>
        </p:txBody>
      </p:sp>
      <p:sp>
        <p:nvSpPr>
          <p:cNvPr id="4" name="Shape 2"/>
          <p:cNvSpPr/>
          <p:nvPr/>
        </p:nvSpPr>
        <p:spPr>
          <a:xfrm>
            <a:off x="384048" y="841248"/>
            <a:ext cx="8375904" cy="658368"/>
          </a:xfrm>
          <a:prstGeom prst="rect">
            <a:avLst/>
          </a:prstGeom>
          <a:solidFill>
            <a:srgbClr val="EBF4FF"/>
          </a:solidFill>
          <a:ln/>
        </p:spPr>
      </p:sp>
      <p:sp>
        <p:nvSpPr>
          <p:cNvPr id="5" name="Text 3"/>
          <p:cNvSpPr/>
          <p:nvPr/>
        </p:nvSpPr>
        <p:spPr>
          <a:xfrm>
            <a:off x="512064" y="877824"/>
            <a:ext cx="8119872" cy="585216"/>
          </a:xfrm>
          <a:prstGeom prst="rect">
            <a:avLst/>
          </a:prstGeom>
          <a:noFill/>
          <a:ln/>
        </p:spPr>
        <p:txBody>
          <a:bodyPr wrap="square" rtlCol="0" anchor="ctr"/>
          <a:lstStyle/>
          <a:p>
            <a:pPr indent="0" marL="0">
              <a:buNone/>
            </a:pPr>
            <a:r>
              <a:rPr lang="en-US" sz="1200" dirty="0">
                <a:solidFill>
                  <a:srgbClr val="1A1A1A"/>
                </a:solidFill>
                <a:latin typeface="Cambria Math" pitchFamily="34" charset="0"/>
                <a:ea typeface="Cambria Math" pitchFamily="34" charset="-122"/>
                <a:cs typeface="Cambria Math" pitchFamily="34" charset="-120"/>
              </a:rPr>
              <a:t>x 0 1 2 3</a:t>
            </a:r>
            <a:endParaRPr lang="en-US" sz="1200" dirty="0"/>
          </a:p>
          <a:p>
            <a:pPr indent="0" marL="0">
              <a:buNone/>
            </a:pPr>
            <a:r>
              <a:rPr lang="en-US" sz="1200" dirty="0">
                <a:solidFill>
                  <a:srgbClr val="1A1A1A"/>
                </a:solidFill>
                <a:latin typeface="Cambria Math" pitchFamily="34" charset="0"/>
                <a:ea typeface="Cambria Math" pitchFamily="34" charset="-122"/>
                <a:cs typeface="Cambria Math" pitchFamily="34" charset="-120"/>
              </a:rPr>
              <a:t>y 2 5 6 8</a:t>
            </a:r>
            <a:endParaRPr lang="en-US" sz="1200" dirty="0"/>
          </a:p>
        </p:txBody>
      </p:sp>
      <p:sp>
        <p:nvSpPr>
          <p:cNvPr id="6" name="Text 4"/>
          <p:cNvSpPr/>
          <p:nvPr/>
        </p:nvSpPr>
        <p:spPr>
          <a:xfrm>
            <a:off x="384048" y="1609344"/>
            <a:ext cx="4522988" cy="347472"/>
          </a:xfrm>
          <a:prstGeom prst="rect">
            <a:avLst/>
          </a:prstGeom>
          <a:noFill/>
          <a:ln/>
        </p:spPr>
        <p:txBody>
          <a:bodyPr wrap="square" rtlCol="0" anchor="ctr"/>
          <a:lstStyle/>
          <a:p>
            <a:pPr indent="0" marL="0">
              <a:buNone/>
            </a:pPr>
            <a:r>
              <a:rPr lang="en-US" sz="1100" dirty="0">
                <a:solidFill>
                  <a:srgbClr val="1A1A1A"/>
                </a:solidFill>
              </a:rPr>
              <a:t>1.  The x-values are one unit apart.</a:t>
            </a:r>
            <a:endParaRPr lang="en-US" sz="1100" dirty="0"/>
          </a:p>
        </p:txBody>
      </p:sp>
      <p:sp>
        <p:nvSpPr>
          <p:cNvPr id="7" name="Shape 5"/>
          <p:cNvSpPr/>
          <p:nvPr/>
        </p:nvSpPr>
        <p:spPr>
          <a:xfrm>
            <a:off x="5158313" y="1609344"/>
            <a:ext cx="3434121" cy="329184"/>
          </a:xfrm>
          <a:prstGeom prst="rect">
            <a:avLst/>
          </a:prstGeom>
          <a:solidFill>
            <a:srgbClr val="FFF8E1"/>
          </a:solidFill>
          <a:ln/>
        </p:spPr>
      </p:sp>
      <p:sp>
        <p:nvSpPr>
          <p:cNvPr id="8" name="Text 6"/>
          <p:cNvSpPr/>
          <p:nvPr/>
        </p:nvSpPr>
        <p:spPr>
          <a:xfrm>
            <a:off x="5249753" y="1636776"/>
            <a:ext cx="3251241" cy="274320"/>
          </a:xfrm>
          <a:prstGeom prst="rect">
            <a:avLst/>
          </a:prstGeom>
          <a:noFill/>
          <a:ln/>
        </p:spPr>
        <p:txBody>
          <a:bodyPr wrap="square" rtlCol="0" anchor="ctr"/>
          <a:lstStyle/>
          <a:p>
            <a:pPr indent="0" marL="0">
              <a:buNone/>
            </a:pPr>
            <a:r>
              <a:rPr lang="en-US" sz="1200" dirty="0">
                <a:solidFill>
                  <a:srgbClr val="1A1A1A"/>
                </a:solidFill>
                <a:latin typeface="Cambria Math" pitchFamily="34" charset="0"/>
                <a:ea typeface="Cambria Math" pitchFamily="34" charset="-122"/>
                <a:cs typeface="Cambria Math" pitchFamily="34" charset="-120"/>
              </a:rPr>
              <a:t>h=1</a:t>
            </a:r>
            <a:endParaRPr lang="en-US" sz="1200" dirty="0"/>
          </a:p>
        </p:txBody>
      </p:sp>
      <p:sp>
        <p:nvSpPr>
          <p:cNvPr id="9" name="Text 7"/>
          <p:cNvSpPr/>
          <p:nvPr/>
        </p:nvSpPr>
        <p:spPr>
          <a:xfrm>
            <a:off x="384048" y="2011680"/>
            <a:ext cx="4522988" cy="347472"/>
          </a:xfrm>
          <a:prstGeom prst="rect">
            <a:avLst/>
          </a:prstGeom>
          <a:noFill/>
          <a:ln/>
        </p:spPr>
        <p:txBody>
          <a:bodyPr wrap="square" rtlCol="0" anchor="ctr"/>
          <a:lstStyle/>
          <a:p>
            <a:pPr indent="0" marL="0">
              <a:buNone/>
            </a:pPr>
            <a:r>
              <a:rPr lang="en-US" sz="1100" dirty="0">
                <a:solidFill>
                  <a:srgbClr val="1A1A1A"/>
                </a:solidFill>
              </a:rPr>
              <a:t>2.  Use endpoints once and interior values twice.</a:t>
            </a:r>
            <a:endParaRPr lang="en-US" sz="1100" dirty="0"/>
          </a:p>
        </p:txBody>
      </p:sp>
      <p:sp>
        <p:nvSpPr>
          <p:cNvPr id="10" name="Shape 8"/>
          <p:cNvSpPr/>
          <p:nvPr/>
        </p:nvSpPr>
        <p:spPr>
          <a:xfrm>
            <a:off x="5158313" y="2011680"/>
            <a:ext cx="3434121" cy="329184"/>
          </a:xfrm>
          <a:prstGeom prst="rect">
            <a:avLst/>
          </a:prstGeom>
          <a:solidFill>
            <a:srgbClr val="FFF8E1"/>
          </a:solidFill>
          <a:ln/>
        </p:spPr>
      </p:sp>
      <p:sp>
        <p:nvSpPr>
          <p:cNvPr id="11" name="Text 9"/>
          <p:cNvSpPr/>
          <p:nvPr/>
        </p:nvSpPr>
        <p:spPr>
          <a:xfrm>
            <a:off x="5249753" y="2039112"/>
            <a:ext cx="3251241" cy="274320"/>
          </a:xfrm>
          <a:prstGeom prst="rect">
            <a:avLst/>
          </a:prstGeom>
          <a:noFill/>
          <a:ln/>
        </p:spPr>
        <p:txBody>
          <a:bodyPr wrap="square" rtlCol="0" anchor="ctr"/>
          <a:lstStyle/>
          <a:p>
            <a:pPr indent="0" marL="0">
              <a:buNone/>
            </a:pPr>
            <a:r>
              <a:rPr lang="en-US" sz="1200" dirty="0">
                <a:solidFill>
                  <a:srgbClr val="1A1A1A"/>
                </a:solidFill>
                <a:latin typeface="Cambria Math" pitchFamily="34" charset="0"/>
                <a:ea typeface="Cambria Math" pitchFamily="34" charset="-122"/>
                <a:cs typeface="Cambria Math" pitchFamily="34" charset="-120"/>
              </a:rPr>
              <a:t>1/2(2+2(5)+2(6)+8)</a:t>
            </a:r>
            <a:endParaRPr lang="en-US" sz="1200" dirty="0"/>
          </a:p>
        </p:txBody>
      </p:sp>
      <p:sp>
        <p:nvSpPr>
          <p:cNvPr id="12" name="Text 10"/>
          <p:cNvSpPr/>
          <p:nvPr/>
        </p:nvSpPr>
        <p:spPr>
          <a:xfrm>
            <a:off x="384048" y="2414016"/>
            <a:ext cx="4522988" cy="347472"/>
          </a:xfrm>
          <a:prstGeom prst="rect">
            <a:avLst/>
          </a:prstGeom>
          <a:noFill/>
          <a:ln/>
        </p:spPr>
        <p:txBody>
          <a:bodyPr wrap="square" rtlCol="0" anchor="ctr"/>
          <a:lstStyle/>
          <a:p>
            <a:pPr indent="0" marL="0">
              <a:buNone/>
            </a:pPr>
            <a:r>
              <a:rPr lang="en-US" sz="1100" dirty="0">
                <a:solidFill>
                  <a:srgbClr val="1A1A1A"/>
                </a:solidFill>
              </a:rPr>
              <a:t>3.  Evaluate the approximation.</a:t>
            </a:r>
            <a:endParaRPr lang="en-US" sz="1100" dirty="0"/>
          </a:p>
        </p:txBody>
      </p:sp>
      <p:sp>
        <p:nvSpPr>
          <p:cNvPr id="13" name="Shape 11"/>
          <p:cNvSpPr/>
          <p:nvPr/>
        </p:nvSpPr>
        <p:spPr>
          <a:xfrm>
            <a:off x="5158313" y="2414016"/>
            <a:ext cx="3434121" cy="329184"/>
          </a:xfrm>
          <a:prstGeom prst="rect">
            <a:avLst/>
          </a:prstGeom>
          <a:solidFill>
            <a:srgbClr val="FFF8E1"/>
          </a:solidFill>
          <a:ln/>
        </p:spPr>
      </p:sp>
      <p:sp>
        <p:nvSpPr>
          <p:cNvPr id="14" name="Text 12"/>
          <p:cNvSpPr/>
          <p:nvPr/>
        </p:nvSpPr>
        <p:spPr>
          <a:xfrm>
            <a:off x="5249753" y="2441448"/>
            <a:ext cx="3251241" cy="274320"/>
          </a:xfrm>
          <a:prstGeom prst="rect">
            <a:avLst/>
          </a:prstGeom>
          <a:noFill/>
          <a:ln/>
        </p:spPr>
        <p:txBody>
          <a:bodyPr wrap="square" rtlCol="0" anchor="ctr"/>
          <a:lstStyle/>
          <a:p>
            <a:pPr indent="0" marL="0">
              <a:buNone/>
            </a:pPr>
            <a:r>
              <a:rPr lang="en-US" sz="1200" dirty="0">
                <a:solidFill>
                  <a:srgbClr val="1A1A1A"/>
                </a:solidFill>
                <a:latin typeface="Cambria Math" pitchFamily="34" charset="0"/>
                <a:ea typeface="Cambria Math" pitchFamily="34" charset="-122"/>
                <a:cs typeface="Cambria Math" pitchFamily="34" charset="-120"/>
              </a:rPr>
              <a:t>16</a:t>
            </a:r>
            <a:endParaRPr lang="en-US" sz="1200" dirty="0"/>
          </a:p>
        </p:txBody>
      </p:sp>
      <p:sp>
        <p:nvSpPr>
          <p:cNvPr id="15" name="Shape 13"/>
          <p:cNvSpPr/>
          <p:nvPr/>
        </p:nvSpPr>
        <p:spPr>
          <a:xfrm>
            <a:off x="384048" y="4558284"/>
            <a:ext cx="8375904" cy="402336"/>
          </a:xfrm>
          <a:prstGeom prst="rect">
            <a:avLst/>
          </a:prstGeom>
          <a:solidFill>
            <a:srgbClr val="1B3A6B"/>
          </a:solidFill>
          <a:ln/>
        </p:spPr>
      </p:sp>
      <p:sp>
        <p:nvSpPr>
          <p:cNvPr id="16" name="Text 14"/>
          <p:cNvSpPr/>
          <p:nvPr/>
        </p:nvSpPr>
        <p:spPr>
          <a:xfrm>
            <a:off x="530352" y="4576572"/>
            <a:ext cx="8083296" cy="365760"/>
          </a:xfrm>
          <a:prstGeom prst="rect">
            <a:avLst/>
          </a:prstGeom>
          <a:noFill/>
          <a:ln/>
        </p:spPr>
        <p:txBody>
          <a:bodyPr wrap="square" rtlCol="0" anchor="ctr"/>
          <a:lstStyle/>
          <a:p>
            <a:pPr indent="0" marL="0">
              <a:buNone/>
            </a:pPr>
            <a:r>
              <a:rPr lang="en-US" sz="1300" b="1" dirty="0">
                <a:solidFill>
                  <a:srgbClr val="FFFFFF"/>
                </a:solidFill>
                <a:latin typeface="Cambria Math" pitchFamily="34" charset="0"/>
                <a:ea typeface="Cambria Math" pitchFamily="34" charset="-122"/>
                <a:cs typeface="Cambria Math" pitchFamily="34" charset="-120"/>
              </a:rPr>
              <a:t>Answer:  16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p:spPr>
      </p:sp>
      <p:sp>
        <p:nvSpPr>
          <p:cNvPr id="3" name="Text 1"/>
          <p:cNvSpPr/>
          <p:nvPr/>
        </p:nvSpPr>
        <p:spPr>
          <a:xfrm>
            <a:off x="384048" y="0"/>
            <a:ext cx="8375904" cy="658368"/>
          </a:xfrm>
          <a:prstGeom prst="rect">
            <a:avLst/>
          </a:prstGeom>
          <a:noFill/>
          <a:ln/>
        </p:spPr>
        <p:txBody>
          <a:bodyPr wrap="square" rtlCol="0" anchor="ctr"/>
          <a:lstStyle/>
          <a:p>
            <a:pPr indent="0" marL="0">
              <a:buNone/>
            </a:pPr>
            <a:r>
              <a:rPr lang="en-US" sz="1800" b="1" dirty="0">
                <a:solidFill>
                  <a:srgbClr val="FFFFFF"/>
                </a:solidFill>
              </a:rPr>
              <a:t>Worked Example 4: Concavity Interpretation</a:t>
            </a:r>
            <a:endParaRPr lang="en-US" sz="1800" dirty="0"/>
          </a:p>
        </p:txBody>
      </p:sp>
      <p:sp>
        <p:nvSpPr>
          <p:cNvPr id="4" name="Shape 2"/>
          <p:cNvSpPr/>
          <p:nvPr/>
        </p:nvSpPr>
        <p:spPr>
          <a:xfrm>
            <a:off x="384048" y="841248"/>
            <a:ext cx="8375904" cy="493776"/>
          </a:xfrm>
          <a:prstGeom prst="rect">
            <a:avLst/>
          </a:prstGeom>
          <a:solidFill>
            <a:srgbClr val="EBF4FF"/>
          </a:solidFill>
          <a:ln/>
        </p:spPr>
      </p:sp>
      <p:sp>
        <p:nvSpPr>
          <p:cNvPr id="5" name="Text 3"/>
          <p:cNvSpPr/>
          <p:nvPr/>
        </p:nvSpPr>
        <p:spPr>
          <a:xfrm>
            <a:off x="512064" y="877824"/>
            <a:ext cx="8119872" cy="420624"/>
          </a:xfrm>
          <a:prstGeom prst="rect">
            <a:avLst/>
          </a:prstGeom>
          <a:noFill/>
          <a:ln/>
        </p:spPr>
        <p:txBody>
          <a:bodyPr wrap="square" rtlCol="0" anchor="ctr"/>
          <a:lstStyle/>
          <a:p>
            <a:pPr indent="0" marL="0">
              <a:buNone/>
            </a:pPr>
            <a:r>
              <a:rPr lang="en-US" sz="1200" dirty="0">
                <a:solidFill>
                  <a:srgbClr val="1A1A1A"/>
                </a:solidFill>
                <a:latin typeface="Cambria Math" pitchFamily="34" charset="0"/>
                <a:ea typeface="Cambria Math" pitchFamily="34" charset="-122"/>
                <a:cs typeface="Cambria Math" pitchFamily="34" charset="-120"/>
              </a:rPr>
              <a:t>f(x)=x² on 0≤ xle2</a:t>
            </a:r>
            <a:endParaRPr lang="en-US" sz="1200" dirty="0"/>
          </a:p>
        </p:txBody>
      </p:sp>
      <p:sp>
        <p:nvSpPr>
          <p:cNvPr id="6" name="Text 4"/>
          <p:cNvSpPr/>
          <p:nvPr/>
        </p:nvSpPr>
        <p:spPr>
          <a:xfrm>
            <a:off x="384048" y="1444752"/>
            <a:ext cx="4522988" cy="347472"/>
          </a:xfrm>
          <a:prstGeom prst="rect">
            <a:avLst/>
          </a:prstGeom>
          <a:noFill/>
          <a:ln/>
        </p:spPr>
        <p:txBody>
          <a:bodyPr wrap="square" rtlCol="0" anchor="ctr"/>
          <a:lstStyle/>
          <a:p>
            <a:pPr indent="0" marL="0">
              <a:buNone/>
            </a:pPr>
            <a:r>
              <a:rPr lang="en-US" sz="1100" dirty="0">
                <a:solidFill>
                  <a:srgbClr val="1A1A1A"/>
                </a:solidFill>
              </a:rPr>
              <a:t>1.  The graph is concave up.</a:t>
            </a:r>
            <a:endParaRPr lang="en-US" sz="1100" dirty="0"/>
          </a:p>
        </p:txBody>
      </p:sp>
      <p:sp>
        <p:nvSpPr>
          <p:cNvPr id="7" name="Shape 5"/>
          <p:cNvSpPr/>
          <p:nvPr/>
        </p:nvSpPr>
        <p:spPr>
          <a:xfrm>
            <a:off x="5158313" y="1444752"/>
            <a:ext cx="3434121" cy="329184"/>
          </a:xfrm>
          <a:prstGeom prst="rect">
            <a:avLst/>
          </a:prstGeom>
          <a:solidFill>
            <a:srgbClr val="FFF8E1"/>
          </a:solidFill>
          <a:ln/>
        </p:spPr>
      </p:sp>
      <p:sp>
        <p:nvSpPr>
          <p:cNvPr id="8" name="Text 6"/>
          <p:cNvSpPr/>
          <p:nvPr/>
        </p:nvSpPr>
        <p:spPr>
          <a:xfrm>
            <a:off x="5249753" y="1472184"/>
            <a:ext cx="3251241" cy="274320"/>
          </a:xfrm>
          <a:prstGeom prst="rect">
            <a:avLst/>
          </a:prstGeom>
          <a:noFill/>
          <a:ln/>
        </p:spPr>
        <p:txBody>
          <a:bodyPr wrap="square" rtlCol="0" anchor="ctr"/>
          <a:lstStyle/>
          <a:p>
            <a:pPr indent="0" marL="0">
              <a:buNone/>
            </a:pPr>
            <a:r>
              <a:rPr lang="en-US" sz="1200" dirty="0">
                <a:solidFill>
                  <a:srgbClr val="1A1A1A"/>
                </a:solidFill>
                <a:latin typeface="Cambria Math" pitchFamily="34" charset="0"/>
                <a:ea typeface="Cambria Math" pitchFamily="34" charset="-122"/>
                <a:cs typeface="Cambria Math" pitchFamily="34" charset="-120"/>
              </a:rPr>
              <a:t>f''(x)=2&gt;0</a:t>
            </a:r>
            <a:endParaRPr lang="en-US" sz="1200" dirty="0"/>
          </a:p>
        </p:txBody>
      </p:sp>
      <p:sp>
        <p:nvSpPr>
          <p:cNvPr id="9" name="Text 7"/>
          <p:cNvSpPr/>
          <p:nvPr/>
        </p:nvSpPr>
        <p:spPr>
          <a:xfrm>
            <a:off x="384048" y="1847088"/>
            <a:ext cx="4522988" cy="347472"/>
          </a:xfrm>
          <a:prstGeom prst="rect">
            <a:avLst/>
          </a:prstGeom>
          <a:noFill/>
          <a:ln/>
        </p:spPr>
        <p:txBody>
          <a:bodyPr wrap="square" rtlCol="0" anchor="ctr"/>
          <a:lstStyle/>
          <a:p>
            <a:pPr indent="0" marL="0">
              <a:buNone/>
            </a:pPr>
            <a:r>
              <a:rPr lang="en-US" sz="1100" dirty="0">
                <a:solidFill>
                  <a:srgbClr val="1A1A1A"/>
                </a:solidFill>
              </a:rPr>
              <a:t>2.  Straight chords lie above a concave-up curve.</a:t>
            </a:r>
            <a:endParaRPr lang="en-US" sz="1100" dirty="0"/>
          </a:p>
        </p:txBody>
      </p:sp>
      <p:sp>
        <p:nvSpPr>
          <p:cNvPr id="10" name="Text 8"/>
          <p:cNvSpPr/>
          <p:nvPr/>
        </p:nvSpPr>
        <p:spPr>
          <a:xfrm>
            <a:off x="384048" y="2249424"/>
            <a:ext cx="4522988" cy="347472"/>
          </a:xfrm>
          <a:prstGeom prst="rect">
            <a:avLst/>
          </a:prstGeom>
          <a:noFill/>
          <a:ln/>
        </p:spPr>
        <p:txBody>
          <a:bodyPr wrap="square" rtlCol="0" anchor="ctr"/>
          <a:lstStyle/>
          <a:p>
            <a:pPr indent="0" marL="0">
              <a:buNone/>
            </a:pPr>
            <a:r>
              <a:rPr lang="en-US" sz="1100" dirty="0">
                <a:solidFill>
                  <a:srgbClr val="1A1A1A"/>
                </a:solidFill>
              </a:rPr>
              <a:t>3.  So the trapezoidal approximation overestimates the integral.</a:t>
            </a:r>
            <a:endParaRPr lang="en-US" sz="1100" dirty="0"/>
          </a:p>
        </p:txBody>
      </p:sp>
      <p:sp>
        <p:nvSpPr>
          <p:cNvPr id="11" name="Shape 9"/>
          <p:cNvSpPr/>
          <p:nvPr/>
        </p:nvSpPr>
        <p:spPr>
          <a:xfrm>
            <a:off x="384048" y="4558284"/>
            <a:ext cx="8375904" cy="402336"/>
          </a:xfrm>
          <a:prstGeom prst="rect">
            <a:avLst/>
          </a:prstGeom>
          <a:solidFill>
            <a:srgbClr val="1B3A6B"/>
          </a:solidFill>
          <a:ln/>
        </p:spPr>
      </p:sp>
      <p:sp>
        <p:nvSpPr>
          <p:cNvPr id="12" name="Text 10"/>
          <p:cNvSpPr/>
          <p:nvPr/>
        </p:nvSpPr>
        <p:spPr>
          <a:xfrm>
            <a:off x="530352" y="4576572"/>
            <a:ext cx="8083296" cy="365760"/>
          </a:xfrm>
          <a:prstGeom prst="rect">
            <a:avLst/>
          </a:prstGeom>
          <a:noFill/>
          <a:ln/>
        </p:spPr>
        <p:txBody>
          <a:bodyPr wrap="square" rtlCol="0" anchor="ctr"/>
          <a:lstStyle/>
          <a:p>
            <a:pPr indent="0" marL="0">
              <a:buNone/>
            </a:pPr>
            <a:r>
              <a:rPr lang="en-US" sz="1300" b="1" dirty="0">
                <a:solidFill>
                  <a:srgbClr val="FFFFFF"/>
                </a:solidFill>
                <a:latin typeface="Cambria Math" pitchFamily="34" charset="0"/>
                <a:ea typeface="Cambria Math" pitchFamily="34" charset="-122"/>
                <a:cs typeface="Cambria Math" pitchFamily="34" charset="-120"/>
              </a:rPr>
              <a:t>Answer:  overestimate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p:spPr>
      </p:sp>
      <p:sp>
        <p:nvSpPr>
          <p:cNvPr id="3" name="Text 1"/>
          <p:cNvSpPr/>
          <p:nvPr/>
        </p:nvSpPr>
        <p:spPr>
          <a:xfrm>
            <a:off x="384048" y="0"/>
            <a:ext cx="8375904" cy="658368"/>
          </a:xfrm>
          <a:prstGeom prst="rect">
            <a:avLst/>
          </a:prstGeom>
          <a:noFill/>
          <a:ln/>
        </p:spPr>
        <p:txBody>
          <a:bodyPr wrap="square" rtlCol="0" anchor="ctr"/>
          <a:lstStyle/>
          <a:p>
            <a:pPr indent="0" marL="0">
              <a:buNone/>
            </a:pPr>
            <a:r>
              <a:rPr lang="en-US" sz="1800" b="1" dirty="0">
                <a:solidFill>
                  <a:srgbClr val="FFFFFF"/>
                </a:solidFill>
              </a:rPr>
              <a:t>Common Mistakes (1 of 2)</a:t>
            </a:r>
            <a:endParaRPr lang="en-US" sz="1800" dirty="0"/>
          </a:p>
        </p:txBody>
      </p:sp>
      <p:sp>
        <p:nvSpPr>
          <p:cNvPr id="4" name="Shape 2"/>
          <p:cNvSpPr/>
          <p:nvPr/>
        </p:nvSpPr>
        <p:spPr>
          <a:xfrm>
            <a:off x="384048" y="841248"/>
            <a:ext cx="3936675" cy="1959102"/>
          </a:xfrm>
          <a:prstGeom prst="rect">
            <a:avLst/>
          </a:prstGeom>
          <a:solidFill>
            <a:srgbClr val="FEF2F2"/>
          </a:solidFill>
          <a:ln/>
        </p:spPr>
      </p:sp>
      <p:sp>
        <p:nvSpPr>
          <p:cNvPr id="5" name="Shape 3"/>
          <p:cNvSpPr/>
          <p:nvPr/>
        </p:nvSpPr>
        <p:spPr>
          <a:xfrm>
            <a:off x="4572000" y="841248"/>
            <a:ext cx="3936675" cy="1959102"/>
          </a:xfrm>
          <a:prstGeom prst="rect">
            <a:avLst/>
          </a:prstGeom>
          <a:solidFill>
            <a:srgbClr val="F0FDF4"/>
          </a:solidFill>
          <a:ln/>
        </p:spPr>
      </p:sp>
      <p:sp>
        <p:nvSpPr>
          <p:cNvPr id="6" name="Text 4"/>
          <p:cNvSpPr/>
          <p:nvPr/>
        </p:nvSpPr>
        <p:spPr>
          <a:xfrm>
            <a:off x="475488" y="905256"/>
            <a:ext cx="3753795" cy="1831086"/>
          </a:xfrm>
          <a:prstGeom prst="rect">
            <a:avLst/>
          </a:prstGeom>
          <a:noFill/>
          <a:ln/>
        </p:spPr>
        <p:txBody>
          <a:bodyPr wrap="square" rtlCol="0" anchor="ctr"/>
          <a:lstStyle/>
          <a:p>
            <a:pPr indent="0" marL="0">
              <a:buNone/>
            </a:pPr>
            <a:r>
              <a:rPr lang="en-US" sz="1100" dirty="0">
                <a:solidFill>
                  <a:srgbClr val="991B1B"/>
                </a:solidFill>
              </a:rPr>
              <a:t>✗  Using n as the width.</a:t>
            </a:r>
            <a:endParaRPr lang="en-US" sz="1100" dirty="0"/>
          </a:p>
        </p:txBody>
      </p:sp>
      <p:sp>
        <p:nvSpPr>
          <p:cNvPr id="7" name="Text 5"/>
          <p:cNvSpPr/>
          <p:nvPr/>
        </p:nvSpPr>
        <p:spPr>
          <a:xfrm>
            <a:off x="4663440" y="905256"/>
            <a:ext cx="3753795" cy="1831086"/>
          </a:xfrm>
          <a:prstGeom prst="rect">
            <a:avLst/>
          </a:prstGeom>
          <a:noFill/>
          <a:ln/>
        </p:spPr>
        <p:txBody>
          <a:bodyPr wrap="square" rtlCol="0" anchor="ctr"/>
          <a:lstStyle/>
          <a:p>
            <a:pPr indent="0" marL="0">
              <a:buNone/>
            </a:pPr>
            <a:r>
              <a:rPr lang="en-US" sz="1100" dirty="0">
                <a:solidFill>
                  <a:srgbClr val="166534"/>
                </a:solidFill>
              </a:rPr>
              <a:t>✓  The width is h=(b-a)/n, not the number of subintervals.</a:t>
            </a:r>
            <a:endParaRPr lang="en-US" sz="1100" dirty="0"/>
          </a:p>
        </p:txBody>
      </p:sp>
      <p:sp>
        <p:nvSpPr>
          <p:cNvPr id="8" name="Shape 6"/>
          <p:cNvSpPr/>
          <p:nvPr/>
        </p:nvSpPr>
        <p:spPr>
          <a:xfrm>
            <a:off x="384048" y="2864358"/>
            <a:ext cx="3936675" cy="1959102"/>
          </a:xfrm>
          <a:prstGeom prst="rect">
            <a:avLst/>
          </a:prstGeom>
          <a:solidFill>
            <a:srgbClr val="FEF2F2"/>
          </a:solidFill>
          <a:ln/>
        </p:spPr>
      </p:sp>
      <p:sp>
        <p:nvSpPr>
          <p:cNvPr id="9" name="Shape 7"/>
          <p:cNvSpPr/>
          <p:nvPr/>
        </p:nvSpPr>
        <p:spPr>
          <a:xfrm>
            <a:off x="4572000" y="2864358"/>
            <a:ext cx="3936675" cy="1959102"/>
          </a:xfrm>
          <a:prstGeom prst="rect">
            <a:avLst/>
          </a:prstGeom>
          <a:solidFill>
            <a:srgbClr val="F0FDF4"/>
          </a:solidFill>
          <a:ln/>
        </p:spPr>
      </p:sp>
      <p:sp>
        <p:nvSpPr>
          <p:cNvPr id="10" name="Text 8"/>
          <p:cNvSpPr/>
          <p:nvPr/>
        </p:nvSpPr>
        <p:spPr>
          <a:xfrm>
            <a:off x="475488" y="2928366"/>
            <a:ext cx="3753795" cy="1831086"/>
          </a:xfrm>
          <a:prstGeom prst="rect">
            <a:avLst/>
          </a:prstGeom>
          <a:noFill/>
          <a:ln/>
        </p:spPr>
        <p:txBody>
          <a:bodyPr wrap="square" rtlCol="0" anchor="ctr"/>
          <a:lstStyle/>
          <a:p>
            <a:pPr indent="0" marL="0">
              <a:buNone/>
            </a:pPr>
            <a:r>
              <a:rPr lang="en-US" sz="1100" dirty="0">
                <a:solidFill>
                  <a:srgbClr val="991B1B"/>
                </a:solidFill>
              </a:rPr>
              <a:t>✗  Forgetting to double interior values.</a:t>
            </a:r>
            <a:endParaRPr lang="en-US" sz="1100" dirty="0"/>
          </a:p>
        </p:txBody>
      </p:sp>
      <p:sp>
        <p:nvSpPr>
          <p:cNvPr id="11" name="Text 9"/>
          <p:cNvSpPr/>
          <p:nvPr/>
        </p:nvSpPr>
        <p:spPr>
          <a:xfrm>
            <a:off x="4663440" y="2928366"/>
            <a:ext cx="3753795" cy="1831086"/>
          </a:xfrm>
          <a:prstGeom prst="rect">
            <a:avLst/>
          </a:prstGeom>
          <a:noFill/>
          <a:ln/>
        </p:spPr>
        <p:txBody>
          <a:bodyPr wrap="square" rtlCol="0" anchor="ctr"/>
          <a:lstStyle/>
          <a:p>
            <a:pPr indent="0" marL="0">
              <a:buNone/>
            </a:pPr>
            <a:r>
              <a:rPr lang="en-US" sz="1100" dirty="0">
                <a:solidFill>
                  <a:srgbClr val="166534"/>
                </a:solidFill>
              </a:rPr>
              <a:t>✓  Every interior y-value has coefficient 2 in the composite trapezoidal rule.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p:spPr>
      </p:sp>
      <p:sp>
        <p:nvSpPr>
          <p:cNvPr id="3" name="Text 1"/>
          <p:cNvSpPr/>
          <p:nvPr/>
        </p:nvSpPr>
        <p:spPr>
          <a:xfrm>
            <a:off x="384048" y="0"/>
            <a:ext cx="8375904" cy="658368"/>
          </a:xfrm>
          <a:prstGeom prst="rect">
            <a:avLst/>
          </a:prstGeom>
          <a:noFill/>
          <a:ln/>
        </p:spPr>
        <p:txBody>
          <a:bodyPr wrap="square" rtlCol="0" anchor="ctr"/>
          <a:lstStyle/>
          <a:p>
            <a:pPr indent="0" marL="0">
              <a:buNone/>
            </a:pPr>
            <a:r>
              <a:rPr lang="en-US" sz="1800" b="1" dirty="0">
                <a:solidFill>
                  <a:srgbClr val="FFFFFF"/>
                </a:solidFill>
              </a:rPr>
              <a:t>Common Mistakes (2 of 2)</a:t>
            </a:r>
            <a:endParaRPr lang="en-US" sz="1800" dirty="0"/>
          </a:p>
        </p:txBody>
      </p:sp>
      <p:sp>
        <p:nvSpPr>
          <p:cNvPr id="4" name="Shape 2"/>
          <p:cNvSpPr/>
          <p:nvPr/>
        </p:nvSpPr>
        <p:spPr>
          <a:xfrm>
            <a:off x="384048" y="841248"/>
            <a:ext cx="3936675" cy="1959102"/>
          </a:xfrm>
          <a:prstGeom prst="rect">
            <a:avLst/>
          </a:prstGeom>
          <a:solidFill>
            <a:srgbClr val="FEF2F2"/>
          </a:solidFill>
          <a:ln/>
        </p:spPr>
      </p:sp>
      <p:sp>
        <p:nvSpPr>
          <p:cNvPr id="5" name="Shape 3"/>
          <p:cNvSpPr/>
          <p:nvPr/>
        </p:nvSpPr>
        <p:spPr>
          <a:xfrm>
            <a:off x="4572000" y="841248"/>
            <a:ext cx="3936675" cy="1959102"/>
          </a:xfrm>
          <a:prstGeom prst="rect">
            <a:avLst/>
          </a:prstGeom>
          <a:solidFill>
            <a:srgbClr val="F0FDF4"/>
          </a:solidFill>
          <a:ln/>
        </p:spPr>
      </p:sp>
      <p:sp>
        <p:nvSpPr>
          <p:cNvPr id="6" name="Text 4"/>
          <p:cNvSpPr/>
          <p:nvPr/>
        </p:nvSpPr>
        <p:spPr>
          <a:xfrm>
            <a:off x="475488" y="905256"/>
            <a:ext cx="3753795" cy="1831086"/>
          </a:xfrm>
          <a:prstGeom prst="rect">
            <a:avLst/>
          </a:prstGeom>
          <a:noFill/>
          <a:ln/>
        </p:spPr>
        <p:txBody>
          <a:bodyPr wrap="square" rtlCol="0" anchor="ctr"/>
          <a:lstStyle/>
          <a:p>
            <a:pPr indent="0" marL="0">
              <a:buNone/>
            </a:pPr>
            <a:r>
              <a:rPr lang="en-US" sz="1100" dirty="0">
                <a:solidFill>
                  <a:srgbClr val="991B1B"/>
                </a:solidFill>
              </a:rPr>
              <a:t>✗  Forgetting the factor h/2.</a:t>
            </a:r>
            <a:endParaRPr lang="en-US" sz="1100" dirty="0"/>
          </a:p>
        </p:txBody>
      </p:sp>
      <p:sp>
        <p:nvSpPr>
          <p:cNvPr id="7" name="Text 5"/>
          <p:cNvSpPr/>
          <p:nvPr/>
        </p:nvSpPr>
        <p:spPr>
          <a:xfrm>
            <a:off x="4663440" y="905256"/>
            <a:ext cx="3753795" cy="1831086"/>
          </a:xfrm>
          <a:prstGeom prst="rect">
            <a:avLst/>
          </a:prstGeom>
          <a:noFill/>
          <a:ln/>
        </p:spPr>
        <p:txBody>
          <a:bodyPr wrap="square" rtlCol="0" anchor="ctr"/>
          <a:lstStyle/>
          <a:p>
            <a:pPr indent="0" marL="0">
              <a:buNone/>
            </a:pPr>
            <a:r>
              <a:rPr lang="en-US" sz="1100" dirty="0">
                <a:solidFill>
                  <a:srgbClr val="166534"/>
                </a:solidFill>
              </a:rPr>
              <a:t>✓  The final bracket must be multiplied by h/2.</a:t>
            </a:r>
            <a:endParaRPr lang="en-US" sz="1100" dirty="0"/>
          </a:p>
        </p:txBody>
      </p:sp>
      <p:sp>
        <p:nvSpPr>
          <p:cNvPr id="8" name="Shape 6"/>
          <p:cNvSpPr/>
          <p:nvPr/>
        </p:nvSpPr>
        <p:spPr>
          <a:xfrm>
            <a:off x="384048" y="2864358"/>
            <a:ext cx="3936675" cy="1959102"/>
          </a:xfrm>
          <a:prstGeom prst="rect">
            <a:avLst/>
          </a:prstGeom>
          <a:solidFill>
            <a:srgbClr val="FEF2F2"/>
          </a:solidFill>
          <a:ln/>
        </p:spPr>
      </p:sp>
      <p:sp>
        <p:nvSpPr>
          <p:cNvPr id="9" name="Shape 7"/>
          <p:cNvSpPr/>
          <p:nvPr/>
        </p:nvSpPr>
        <p:spPr>
          <a:xfrm>
            <a:off x="4572000" y="2864358"/>
            <a:ext cx="3936675" cy="1959102"/>
          </a:xfrm>
          <a:prstGeom prst="rect">
            <a:avLst/>
          </a:prstGeom>
          <a:solidFill>
            <a:srgbClr val="F0FDF4"/>
          </a:solidFill>
          <a:ln/>
        </p:spPr>
      </p:sp>
      <p:sp>
        <p:nvSpPr>
          <p:cNvPr id="10" name="Text 8"/>
          <p:cNvSpPr/>
          <p:nvPr/>
        </p:nvSpPr>
        <p:spPr>
          <a:xfrm>
            <a:off x="475488" y="2928366"/>
            <a:ext cx="3753795" cy="1831086"/>
          </a:xfrm>
          <a:prstGeom prst="rect">
            <a:avLst/>
          </a:prstGeom>
          <a:noFill/>
          <a:ln/>
        </p:spPr>
        <p:txBody>
          <a:bodyPr wrap="square" rtlCol="0" anchor="ctr"/>
          <a:lstStyle/>
          <a:p>
            <a:pPr indent="0" marL="0">
              <a:buNone/>
            </a:pPr>
            <a:r>
              <a:rPr lang="en-US" sz="1100" dirty="0">
                <a:solidFill>
                  <a:srgbClr val="991B1B"/>
                </a:solidFill>
              </a:rPr>
              <a:t>✗  Assuming the rule is exact for all curves.</a:t>
            </a:r>
            <a:endParaRPr lang="en-US" sz="1100" dirty="0"/>
          </a:p>
        </p:txBody>
      </p:sp>
      <p:sp>
        <p:nvSpPr>
          <p:cNvPr id="11" name="Text 9"/>
          <p:cNvSpPr/>
          <p:nvPr/>
        </p:nvSpPr>
        <p:spPr>
          <a:xfrm>
            <a:off x="4663440" y="2928366"/>
            <a:ext cx="3753795" cy="1831086"/>
          </a:xfrm>
          <a:prstGeom prst="rect">
            <a:avLst/>
          </a:prstGeom>
          <a:noFill/>
          <a:ln/>
        </p:spPr>
        <p:txBody>
          <a:bodyPr wrap="square" rtlCol="0" anchor="ctr"/>
          <a:lstStyle/>
          <a:p>
            <a:pPr indent="0" marL="0">
              <a:buNone/>
            </a:pPr>
            <a:r>
              <a:rPr lang="en-US" sz="1100" dirty="0">
                <a:solidFill>
                  <a:srgbClr val="166534"/>
                </a:solidFill>
              </a:rPr>
              <a:t>✓  It is exact for straight-line data, but curved graphs are usually only approximated.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p:spPr>
      </p:sp>
      <p:sp>
        <p:nvSpPr>
          <p:cNvPr id="3" name="Text 1"/>
          <p:cNvSpPr/>
          <p:nvPr/>
        </p:nvSpPr>
        <p:spPr>
          <a:xfrm>
            <a:off x="384048" y="0"/>
            <a:ext cx="8375904" cy="658368"/>
          </a:xfrm>
          <a:prstGeom prst="rect">
            <a:avLst/>
          </a:prstGeom>
          <a:noFill/>
          <a:ln/>
        </p:spPr>
        <p:txBody>
          <a:bodyPr wrap="square" rtlCol="0" anchor="ctr"/>
          <a:lstStyle/>
          <a:p>
            <a:pPr indent="0" marL="0">
              <a:buNone/>
            </a:pPr>
            <a:r>
              <a:rPr lang="en-US" sz="1800" b="1" dirty="0">
                <a:solidFill>
                  <a:srgbClr val="FFFFFF"/>
                </a:solidFill>
              </a:rPr>
              <a:t>Your Turn – Guided Practice</a:t>
            </a:r>
            <a:endParaRPr lang="en-US" sz="1800" dirty="0"/>
          </a:p>
        </p:txBody>
      </p:sp>
      <p:sp>
        <p:nvSpPr>
          <p:cNvPr id="4" name="Text 2"/>
          <p:cNvSpPr/>
          <p:nvPr/>
        </p:nvSpPr>
        <p:spPr>
          <a:xfrm>
            <a:off x="384048" y="841248"/>
            <a:ext cx="8375904" cy="274320"/>
          </a:xfrm>
          <a:prstGeom prst="rect">
            <a:avLst/>
          </a:prstGeom>
          <a:noFill/>
          <a:ln/>
        </p:spPr>
        <p:txBody>
          <a:bodyPr wrap="square" rtlCol="0" anchor="ctr"/>
          <a:lstStyle/>
          <a:p>
            <a:pPr indent="0" marL="0">
              <a:buNone/>
            </a:pPr>
            <a:r>
              <a:rPr lang="en-US" sz="1050" i="1" dirty="0">
                <a:solidFill>
                  <a:srgbClr val="555555"/>
                </a:solidFill>
              </a:rPr>
              <a:t>Pause the video and try this question. Write your working below.</a:t>
            </a:r>
            <a:endParaRPr lang="en-US" sz="1050" dirty="0"/>
          </a:p>
        </p:txBody>
      </p:sp>
      <p:sp>
        <p:nvSpPr>
          <p:cNvPr id="5" name="Shape 3"/>
          <p:cNvSpPr/>
          <p:nvPr/>
        </p:nvSpPr>
        <p:spPr>
          <a:xfrm>
            <a:off x="384048" y="1170432"/>
            <a:ext cx="8375904" cy="566928"/>
          </a:xfrm>
          <a:prstGeom prst="rect">
            <a:avLst/>
          </a:prstGeom>
          <a:solidFill>
            <a:srgbClr val="EBF4FF"/>
          </a:solidFill>
          <a:ln/>
        </p:spPr>
      </p:sp>
      <p:sp>
        <p:nvSpPr>
          <p:cNvPr id="6" name="Text 4"/>
          <p:cNvSpPr/>
          <p:nvPr/>
        </p:nvSpPr>
        <p:spPr>
          <a:xfrm>
            <a:off x="512064" y="1170432"/>
            <a:ext cx="4187952" cy="566928"/>
          </a:xfrm>
          <a:prstGeom prst="rect">
            <a:avLst/>
          </a:prstGeom>
          <a:noFill/>
          <a:ln/>
        </p:spPr>
        <p:txBody>
          <a:bodyPr wrap="square" rtlCol="0" anchor="ctr"/>
          <a:lstStyle/>
          <a:p>
            <a:pPr indent="0" marL="0">
              <a:buNone/>
            </a:pPr>
            <a:r>
              <a:rPr lang="en-US" sz="1200" b="1" dirty="0">
                <a:solidFill>
                  <a:srgbClr val="1A1A1A"/>
                </a:solidFill>
              </a:rPr>
              <a:t>Use one trapezoid to approximate the integral.</a:t>
            </a:r>
            <a:endParaRPr lang="en-US" sz="1200" dirty="0"/>
          </a:p>
        </p:txBody>
      </p:sp>
      <p:sp>
        <p:nvSpPr>
          <p:cNvPr id="7" name="Text 5"/>
          <p:cNvSpPr/>
          <p:nvPr/>
        </p:nvSpPr>
        <p:spPr>
          <a:xfrm>
            <a:off x="4739518" y="1207008"/>
            <a:ext cx="3685398" cy="493776"/>
          </a:xfrm>
          <a:prstGeom prst="rect">
            <a:avLst/>
          </a:prstGeom>
          <a:noFill/>
          <a:ln/>
        </p:spPr>
        <p:txBody>
          <a:bodyPr wrap="square" rtlCol="0" anchor="ctr"/>
          <a:lstStyle/>
          <a:p>
            <a:pPr indent="0" marL="0">
              <a:buNone/>
            </a:pPr>
            <a:r>
              <a:rPr lang="en-US" sz="1200" dirty="0">
                <a:solidFill>
                  <a:srgbClr val="1A1A1A"/>
                </a:solidFill>
                <a:latin typeface="Cambria Math" pitchFamily="34" charset="0"/>
                <a:ea typeface="Cambria Math" pitchFamily="34" charset="-122"/>
                <a:cs typeface="Cambria Math" pitchFamily="34" charset="-120"/>
              </a:rPr>
              <a:t>∫ x² dx</a:t>
            </a:r>
            <a:endParaRPr lang="en-US" sz="1200" dirty="0"/>
          </a:p>
        </p:txBody>
      </p:sp>
      <p:sp>
        <p:nvSpPr>
          <p:cNvPr id="8" name="Text 6"/>
          <p:cNvSpPr/>
          <p:nvPr/>
        </p:nvSpPr>
        <p:spPr>
          <a:xfrm>
            <a:off x="384048" y="1828800"/>
            <a:ext cx="8375904" cy="310896"/>
          </a:xfrm>
          <a:prstGeom prst="rect">
            <a:avLst/>
          </a:prstGeom>
          <a:noFill/>
          <a:ln/>
        </p:spPr>
        <p:txBody>
          <a:bodyPr wrap="square" rtlCol="0" anchor="ctr"/>
          <a:lstStyle/>
          <a:p>
            <a:pPr indent="0" marL="0">
              <a:buNone/>
            </a:pPr>
            <a:r>
              <a:rPr lang="en-US" sz="1000" i="1" dirty="0">
                <a:solidFill>
                  <a:srgbClr val="555555"/>
                </a:solidFill>
              </a:rPr>
              <a:t>Hint: Identify h and combine the endpoint and interior y-values carefully.</a:t>
            </a:r>
            <a:endParaRPr lang="en-US" sz="1000" dirty="0"/>
          </a:p>
        </p:txBody>
      </p:sp>
      <p:sp>
        <p:nvSpPr>
          <p:cNvPr id="9" name="Text 7"/>
          <p:cNvSpPr/>
          <p:nvPr/>
        </p:nvSpPr>
        <p:spPr>
          <a:xfrm>
            <a:off x="384048" y="2231136"/>
            <a:ext cx="1828800" cy="256032"/>
          </a:xfrm>
          <a:prstGeom prst="rect">
            <a:avLst/>
          </a:prstGeom>
          <a:noFill/>
          <a:ln/>
        </p:spPr>
        <p:txBody>
          <a:bodyPr wrap="square" rtlCol="0" anchor="ctr"/>
          <a:lstStyle/>
          <a:p>
            <a:pPr indent="0" marL="0">
              <a:buNone/>
            </a:pPr>
            <a:r>
              <a:rPr lang="en-US" sz="1000" b="1" dirty="0">
                <a:solidFill>
                  <a:srgbClr val="555555"/>
                </a:solidFill>
              </a:rPr>
              <a:t>My working:</a:t>
            </a:r>
            <a:endParaRPr lang="en-US" sz="1000" dirty="0"/>
          </a:p>
        </p:txBody>
      </p:sp>
      <p:sp>
        <p:nvSpPr>
          <p:cNvPr id="10" name="Shape 8"/>
          <p:cNvSpPr/>
          <p:nvPr/>
        </p:nvSpPr>
        <p:spPr>
          <a:xfrm>
            <a:off x="384048" y="2505456"/>
            <a:ext cx="8375904" cy="2436876"/>
          </a:xfrm>
          <a:prstGeom prst="rect">
            <a:avLst/>
          </a:prstGeom>
          <a:solidFill>
            <a:srgbClr val="F9FAFB"/>
          </a:solidFill>
          <a:ln w="12700">
            <a:solidFill>
              <a:srgbClr val="D1D5DB"/>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p:spPr>
      </p:sp>
      <p:sp>
        <p:nvSpPr>
          <p:cNvPr id="3" name="Text 1"/>
          <p:cNvSpPr/>
          <p:nvPr/>
        </p:nvSpPr>
        <p:spPr>
          <a:xfrm>
            <a:off x="384048" y="0"/>
            <a:ext cx="8375904" cy="658368"/>
          </a:xfrm>
          <a:prstGeom prst="rect">
            <a:avLst/>
          </a:prstGeom>
          <a:noFill/>
          <a:ln/>
        </p:spPr>
        <p:txBody>
          <a:bodyPr wrap="square" rtlCol="0" anchor="ctr"/>
          <a:lstStyle/>
          <a:p>
            <a:pPr indent="0" marL="0">
              <a:buNone/>
            </a:pPr>
            <a:r>
              <a:rPr lang="en-US" sz="1800" b="1" dirty="0">
                <a:solidFill>
                  <a:srgbClr val="FFFFFF"/>
                </a:solidFill>
              </a:rPr>
              <a:t>Summary</a:t>
            </a:r>
            <a:endParaRPr lang="en-US" sz="1800" dirty="0"/>
          </a:p>
        </p:txBody>
      </p:sp>
      <p:sp>
        <p:nvSpPr>
          <p:cNvPr id="4" name="Text 2"/>
          <p:cNvSpPr/>
          <p:nvPr/>
        </p:nvSpPr>
        <p:spPr>
          <a:xfrm>
            <a:off x="384048" y="841248"/>
            <a:ext cx="8375904" cy="274320"/>
          </a:xfrm>
          <a:prstGeom prst="rect">
            <a:avLst/>
          </a:prstGeom>
          <a:noFill/>
          <a:ln/>
        </p:spPr>
        <p:txBody>
          <a:bodyPr wrap="square" rtlCol="0" anchor="ctr"/>
          <a:lstStyle/>
          <a:p>
            <a:pPr indent="0" marL="0">
              <a:buNone/>
            </a:pPr>
            <a:r>
              <a:rPr lang="en-US" sz="1150" b="1" dirty="0">
                <a:solidFill>
                  <a:srgbClr val="1B3A6B"/>
                </a:solidFill>
              </a:rPr>
              <a:t>Key ideas from this lesson:</a:t>
            </a:r>
            <a:endParaRPr lang="en-US" sz="1150" dirty="0"/>
          </a:p>
        </p:txBody>
      </p:sp>
      <p:sp>
        <p:nvSpPr>
          <p:cNvPr id="5" name="Text 3"/>
          <p:cNvSpPr/>
          <p:nvPr/>
        </p:nvSpPr>
        <p:spPr>
          <a:xfrm>
            <a:off x="475488" y="1188720"/>
            <a:ext cx="8193024" cy="3753612"/>
          </a:xfrm>
          <a:prstGeom prst="rect">
            <a:avLst/>
          </a:prstGeom>
          <a:noFill/>
          <a:ln/>
        </p:spPr>
        <p:txBody>
          <a:bodyPr wrap="square" rtlCol="0" anchor="ctr"/>
          <a:lstStyle/>
          <a:p>
            <a:pPr marL="342900" indent="-342900">
              <a:spcAft>
                <a:spcPts val="400"/>
              </a:spcAft>
              <a:buSzPct val="100000"/>
              <a:buChar char="•"/>
            </a:pPr>
            <a:r>
              <a:rPr lang="en-US" sz="1100" dirty="0">
                <a:solidFill>
                  <a:srgbClr val="1A1A1A"/>
                </a:solidFill>
              </a:rPr>
              <a:t>Divide [a, b] into n equal subintervals of width  h = (b−a)/n.</a:t>
            </a:r>
            <a:endParaRPr lang="en-US" sz="1100" dirty="0"/>
          </a:p>
          <a:p>
            <a:pPr marL="342900" indent="-342900">
              <a:spcAft>
                <a:spcPts val="400"/>
              </a:spcAft>
              <a:buSzPct val="100000"/>
              <a:buChar char="•"/>
            </a:pPr>
            <a:r>
              <a:rPr lang="en-US" sz="1100" dirty="0">
                <a:solidFill>
                  <a:srgbClr val="1A1A1A"/>
                </a:solidFill>
              </a:rPr>
              <a:t>Formula:  (h/2)[y₀ + 2y₁ + 2y₂ + ⋯ + 2yₙ₋₁ + yₙ]</a:t>
            </a:r>
            <a:endParaRPr lang="en-US" sz="1100" dirty="0"/>
          </a:p>
          <a:p>
            <a:pPr marL="342900" indent="-342900">
              <a:spcAft>
                <a:spcPts val="400"/>
              </a:spcAft>
              <a:buSzPct val="100000"/>
              <a:buChar char="•"/>
            </a:pPr>
            <a:r>
              <a:rPr lang="en-US" sz="1100" dirty="0">
                <a:solidFill>
                  <a:srgbClr val="1A1A1A"/>
                </a:solidFill>
              </a:rPr>
              <a:t>Endpoints y₀ and yₙ — coefficient 1.  Interior values — coefficient 2.</a:t>
            </a:r>
            <a:endParaRPr lang="en-US" sz="1100" dirty="0"/>
          </a:p>
          <a:p>
            <a:pPr marL="342900" indent="-342900">
              <a:spcAft>
                <a:spcPts val="400"/>
              </a:spcAft>
              <a:buSzPct val="100000"/>
              <a:buChar char="•"/>
            </a:pPr>
            <a:r>
              <a:rPr lang="en-US" sz="1100" dirty="0">
                <a:solidFill>
                  <a:srgbClr val="1A1A1A"/>
                </a:solidFill>
              </a:rPr>
              <a:t>From a table of values: read h from the x-spacing, then apply the formula.</a:t>
            </a:r>
            <a:endParaRPr lang="en-US" sz="1100" dirty="0"/>
          </a:p>
          <a:p>
            <a:pPr marL="342900" indent="-342900">
              <a:spcAft>
                <a:spcPts val="400"/>
              </a:spcAft>
              <a:buSzPct val="100000"/>
              <a:buChar char="•"/>
            </a:pPr>
            <a:r>
              <a:rPr lang="en-US" sz="1100" dirty="0">
                <a:solidFill>
                  <a:srgbClr val="1A1A1A"/>
                </a:solidFill>
              </a:rPr>
              <a:t>Concave-up curve → trapezoids lie above → overestimate.</a:t>
            </a:r>
            <a:endParaRPr lang="en-US" sz="1100" dirty="0"/>
          </a:p>
          <a:p>
            <a:pPr marL="342900" indent="-342900">
              <a:spcAft>
                <a:spcPts val="400"/>
              </a:spcAft>
              <a:buSzPct val="100000"/>
              <a:buChar char="•"/>
            </a:pPr>
            <a:r>
              <a:rPr lang="en-US" sz="1100" dirty="0">
                <a:solidFill>
                  <a:srgbClr val="1A1A1A"/>
                </a:solidFill>
              </a:rPr>
              <a:t>Concave-down curve → trapezoids lie below → underestimate.</a:t>
            </a:r>
            <a:endParaRPr lang="en-US" sz="1100" dirty="0"/>
          </a:p>
          <a:p>
            <a:pPr marL="342900" indent="-342900">
              <a:spcAft>
                <a:spcPts val="400"/>
              </a:spcAft>
              <a:buSzPct val="100000"/>
              <a:buChar char="•"/>
            </a:pPr>
            <a:r>
              <a:rPr lang="en-US" sz="1100" dirty="0">
                <a:solidFill>
                  <a:srgbClr val="1A1A1A"/>
                </a:solidFill>
              </a:rPr>
              <a:t>More subintervals (smaller h) → closer approximation.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Year 12 Mathematics Advanced – The Trapezoidal Rule</dc:title>
  <dc:subject>The Trapezoidal Rule</dc:subject>
  <dc:creator>HSC Maths Coach</dc:creator>
  <cp:lastModifiedBy>HSC Maths Coach</cp:lastModifiedBy>
  <cp:revision>1</cp:revision>
  <dcterms:created xsi:type="dcterms:W3CDTF">2026-05-28T07:02:08Z</dcterms:created>
  <dcterms:modified xsi:type="dcterms:W3CDTF">2026-05-28T07:02:08Z</dcterms:modified>
</cp:coreProperties>
</file>